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0b4dbb4-554b-4206-1b25-f52929faac1d}">
          <p14:sldIdLst>
            <p14:sldId id="256"/>
          </p14:sldIdLst>
        </p14:section>
        <p14:section name="Pourquoi changer" id="{ef6aacbc-88c1-28b2-8db8-069197620d96}">
          <p14:sldIdLst>
            <p14:sldId id="257"/>
            <p14:sldId id="258"/>
          </p14:sldIdLst>
        </p14:section>
        <p14:section name="La solution" id="{e5a74e38-8266-02c5-a306-f78268b085f1}">
          <p14:sldIdLst>
            <p14:sldId id="259"/>
            <p14:sldId id="260"/>
          </p14:sldIdLst>
        </p14:section>
        <p14:section name="Valeur ajoutée" id="{0948e7f8-d28c-efa2-a7cc-af1389e2f4bf}">
          <p14:sldIdLst>
            <p14:sldId id="261"/>
            <p14:sldId id="262"/>
            <p14:sldId id="263"/>
            <p14:sldId id="264"/>
            <p14:sldId id="265"/>
          </p14:sldIdLst>
        </p14:section>
        <p14:section name="Démonstration" id="{4c0c663e-6931-4b92-a11b-e4363dac8d38}">
          <p14:sldIdLst>
            <p14:sldId id="266"/>
            <p14:sldId id="267"/>
            <p14:sldId id="268"/>
            <p14:sldId id="269"/>
            <p14:sldId id="270"/>
          </p14:sldIdLst>
        </p14:section>
        <p14:section name="Adoption" id="{466d7a98-c3d2-9e98-f12a-ce9460b36247}">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Objet de la réunion : présenter l’application de gestion des frais de fonctionnement et obtenir la décision de l’adopter.
Déroulé (30 à 35 minutes) : 1) pourquoi changer, 2) la solution, 3) démonstration en direct de 10 minutes, 4) plan d’adoption et décisions attendues.
L’écran montré ici est la synthèse de l’Inspecteur Général, telle qu’il la verra sur son téléphone.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la réalité vécue par l’assistance, sans accuser personne : le problème vient de l’outil, pas des agents.
Insister sur trois conséquences : 1) la Direction décide sur des chiffres anciens ; 2) les irrégularités se découvrent quand il est trop tard ; 3) en cas d’audit, il est difficile de prouver la régularité des opérations.
Adapter les exemples à des situations connues de l’Inspection (délais de remontée, pièces égarées, ressaisies).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clé : la lire ligne par ligne, lentement. Chaque ligne est une promesse que la démonstration va prouver.
Message : on ne change pas les règles de gestion de l’Inspection ; on les applique automatiquement et au bon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l’écran d’Administration et Finance : en haut, budget consommé comparé au temps écoulé, caisses, avances à justifier, écritures à vérifier. Au centre, l’exécution par service et les alertes prioritaires.
Tout ce qui est affiché est calculé à partir des écritures validées : aucun chiffre n’est ressaisi.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circuit reste celui que tout le monde connaît ; il devient simplement instantané et contrôlé.
Point fort : une écriture ne peut plus être modifiée ni supprimée. Une erreur se corrige par une écriture inverse (contrepassation), visible et motivée.
En fin de mois, l’arrêté de caisse compare le comptage physique au livre ; une fois signé par l’agent puis par le Responsable, le mois est clôturé.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S’adresser directement à l’Inspecteur Général : voici ce que vous verrez chaque matin, sur votre téléphone.
Le visa de la Direction est demandé automatiquement au-delà de 5 000 000 CDF (seuil réglable). Le visa est horodaté et inscrit au journal d’audit.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l’application ne remplace pas le contrôle humain, elle le concentre là où il est utile.
Les contrôles bloquants empêchent l’erreur ; les anomalies attirent l’œil du vérificateur, qui voit aussi la pièce jointe, le disponible et peut poser une question sans rejeter.
Tous les seuils sont des paramètres réglés par Administration et Finance, pas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l’outil couvre l’ensemble des frais de fonctionnement, pas seulement la caisse.
Chaque module peut être activé ou désactivé par Administration et Finance (écran Fonctions du site) : on peut démarrer par le socle caisse et budget, puis ouvrir les autres modules progressivement.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 important pour les inspections provinciales : la connexion n’est pas un obstacle.
Les écritures saisies sans réseau passent par les mêmes contrôles à l’envoi ; une écriture refusée reste sur le téléphone avec son motif.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Rassurer : l’informatisation renforce le contrôle au lieu de l’affaiblir.
Le journal d’audit est chaîné par empreintes : même un administrateur ne peut pas le modifier sans que cela se voie (bouton « Vérifier l’intégrité »).
Préciser qu’une revue indépendante du code est prévue avant de saisir des données réelles.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la réunion : ouvrir les sessions sur le site de démonstration (agent du service, Administration et Finance, Inspecteur Général), un téléphone prêt avec une facture à photographier, un second téléphone pour scanner le QR.
Si la connexion fait défaut, utiliser les trois diapositives de secours qui suivent le scénario.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Conduite pas à pas (site de démonstration) :
1. Téléphone, compte agent du service 8000 IG : Nouvelle écriture › montant 150 000 › rubrique R01 › « Rames de papier » › fournisseur dans la liste › n° de pièce › photographier la facture › Enregistrer. Montrer le numéro attribué et le solde qui baisse.
2. Même écran : montant 2 500 000 en Espèces › Enregistrer › lire le message de refus (plafond de 2 000 000 CDF).
3. Transmission › Transmettre le lot. Puis compte Administration et Finance : Vérification › cliquer l’écriture › ouvrir la photo › poser une question puis Valider une autre écriture.
4. Tableau de bord : montrer la mise à jour des chiffres et les alertes prioritaires ; cliquer « Voir » sur une alerte.
5. Téléphone de l’Inspecteur Général : Visas › Examiner la demande DF-8000IG-001 de 6 000 000 CDF › lire les visas déjà donnés › Viser.
6. Administration et Finance : Rapports › Situation mensuelle d’exécution › Émettre › ouvrir le PDF. Faire scanner le code QR par un participant : « Document authentique ».
Durée totale : 10 minutes. Garder une marge pour les questions pendant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(temps forts 1 à 3), à utiliser si la connexion ne permet pas la démonstration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(temps forts 4 et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(temps fort 6), et argument fort pour les partenaires : un rapport de l’Inspection devient vérifiable par un ministère, un bailleur ou un auditeur.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durées sont indicatives et à ajuster avec Administration et Finance.
Insister sur le pilote en parallèle : on ne prend aucun risque, on compare les résultats avant de basculer.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le projet n’est pas une idée mais un outil abouti, documenté et testé.
Rester transparent sur les étapes restantes : revue indépendante du code et recette avant toute donnée réelle. La notification par SMS ou WhatsApp n’est pas incluse (elle demande un abonnement chez un opérateur).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la décision, pas sur la technique. Reformuler : moins de ressaisies, des contrôles au bon moment, des chiffres du jour pour la Direction, des documents vérifiables.
Proposer de remettre le guide d’utilisation et le cahier de recette à l’issue de la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GE_SOMBRE">
    <p:bg>
      <p:bgPr>
        <a:solidFill>
          <a:srgbClr val="17418A"/>
        </a:solidFill>
      </p:bgPr>
    </p:bg>
    <p:spTree>
      <p:nvGrpSpPr>
        <p:cNvPr id="1" name=""/>
        <p:cNvGrpSpPr/>
        <p:nvPr/>
      </p:nvGrpSpPr>
      <p:grpSpPr>
        <a:xfrm>
          <a:off x="0" y="0"/>
          <a:ext cx="0" cy="0"/>
          <a:chOff x="0" y="0"/>
          <a:chExt cx="0" cy="0"/>
        </a:xfrm>
      </p:grpSpPr>
      <p:sp>
        <p:nvSpPr>
          <p:cNvPr id="2" name="Shape 0"/>
          <p:cNvSpPr/>
          <p:nvPr/>
        </p:nvSpPr>
        <p:spPr>
          <a:xfrm>
            <a:off x="0" y="6793992"/>
            <a:ext cx="4063898" cy="64008"/>
          </a:xfrm>
          <a:prstGeom prst="rect">
            <a:avLst/>
          </a:prstGeom>
          <a:solidFill>
            <a:srgbClr val="0095C9"/>
          </a:solidFill>
          <a:ln/>
        </p:spPr>
      </p:sp>
      <p:sp>
        <p:nvSpPr>
          <p:cNvPr id="3" name="Shape 1"/>
          <p:cNvSpPr/>
          <p:nvPr/>
        </p:nvSpPr>
        <p:spPr>
          <a:xfrm>
            <a:off x="4063898" y="6793992"/>
            <a:ext cx="4063898" cy="64008"/>
          </a:xfrm>
          <a:prstGeom prst="rect">
            <a:avLst/>
          </a:prstGeom>
          <a:solidFill>
            <a:srgbClr val="FFF24B"/>
          </a:solidFill>
          <a:ln/>
        </p:spPr>
      </p:sp>
      <p:sp>
        <p:nvSpPr>
          <p:cNvPr id="4" name="Shape 2"/>
          <p:cNvSpPr/>
          <p:nvPr/>
        </p:nvSpPr>
        <p:spPr>
          <a:xfrm>
            <a:off x="8127797" y="6793992"/>
            <a:ext cx="4073042" cy="64008"/>
          </a:xfrm>
          <a:prstGeom prst="rect">
            <a:avLst/>
          </a:prstGeom>
          <a:solidFill>
            <a:srgbClr val="DB3832"/>
          </a:solidFill>
          <a:ln/>
        </p:spPr>
      </p:sp>
      <p:sp>
        <p:nvSpPr>
          <p:cNvPr id="5" name="Text 3"/>
          <p:cNvSpPr/>
          <p:nvPr>
            <p:ph idx="103" type="title" hasCustomPrompt="1"/>
          </p:nvPr>
        </p:nvSpPr>
        <p:spPr>
          <a:xfrm>
            <a:off x="731520" y="2286000"/>
            <a:ext cx="804672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6" name="Text 3"/>
          <p:cNvSpPr/>
          <p:nvPr>
            <p:ph idx="104" type="body" hasCustomPrompt="1"/>
          </p:nvPr>
        </p:nvSpPr>
        <p:spPr>
          <a:xfrm>
            <a:off x="731520" y="4069080"/>
            <a:ext cx="8046720" cy="137160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GE_CONTENU">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93992"/>
            <a:ext cx="4063898" cy="64008"/>
          </a:xfrm>
          <a:prstGeom prst="rect">
            <a:avLst/>
          </a:prstGeom>
          <a:solidFill>
            <a:srgbClr val="0095C9"/>
          </a:solidFill>
          <a:ln/>
        </p:spPr>
      </p:sp>
      <p:sp>
        <p:nvSpPr>
          <p:cNvPr id="3" name="Shape 1"/>
          <p:cNvSpPr/>
          <p:nvPr/>
        </p:nvSpPr>
        <p:spPr>
          <a:xfrm>
            <a:off x="4063898" y="6793992"/>
            <a:ext cx="4063898" cy="64008"/>
          </a:xfrm>
          <a:prstGeom prst="rect">
            <a:avLst/>
          </a:prstGeom>
          <a:solidFill>
            <a:srgbClr val="FFF24B"/>
          </a:solidFill>
          <a:ln/>
        </p:spPr>
      </p:sp>
      <p:sp>
        <p:nvSpPr>
          <p:cNvPr id="4" name="Shape 2"/>
          <p:cNvSpPr/>
          <p:nvPr/>
        </p:nvSpPr>
        <p:spPr>
          <a:xfrm>
            <a:off x="8127797" y="6793992"/>
            <a:ext cx="4073042" cy="64008"/>
          </a:xfrm>
          <a:prstGeom prst="rect">
            <a:avLst/>
          </a:prstGeom>
          <a:solidFill>
            <a:srgbClr val="DB3832"/>
          </a:solidFill>
          <a:ln/>
        </p:spPr>
      </p:sp>
      <p:pic>
        <p:nvPicPr>
          <p:cNvPr id="5" name="Image 0" descr="Armoiries">    </p:cNvPr>
          <p:cNvPicPr>
            <a:picLocks noChangeAspect="1"/>
          </p:cNvPicPr>
          <p:nvPr/>
        </p:nvPicPr>
        <p:blipFill>
          <a:blip r:embed="rId1"/>
          <a:stretch>
            <a:fillRect/>
          </a:stretch>
        </p:blipFill>
        <p:spPr>
          <a:xfrm>
            <a:off x="548640" y="6336792"/>
            <a:ext cx="329184" cy="329184"/>
          </a:xfrm>
          <a:prstGeom prst="rect">
            <a:avLst/>
          </a:prstGeom>
        </p:spPr>
      </p:pic>
      <p:sp>
        <p:nvSpPr>
          <p:cNvPr id="6" name="Text 3"/>
          <p:cNvSpPr/>
          <p:nvPr/>
        </p:nvSpPr>
        <p:spPr>
          <a:xfrm>
            <a:off x="960120" y="6355080"/>
            <a:ext cx="7315200" cy="292608"/>
          </a:xfrm>
          <a:prstGeom prst="rect">
            <a:avLst/>
          </a:prstGeom>
          <a:noFill/>
          <a:ln/>
        </p:spPr>
        <p:txBody>
          <a:bodyPr wrap="square" lIns="0" tIns="0" rIns="0" bIns="0" rtlCol="0" anchor="ctr"/>
          <a:lstStyle/>
          <a:p>
            <a:pPr indent="0" marL="0">
              <a:buNone/>
            </a:pPr>
            <a:r>
              <a:rPr lang="en-US" sz="1000" dirty="0">
                <a:solidFill>
                  <a:schemeClr val="tx2"/>
                </a:solidFill>
              </a:rPr>
              <a:t>Inspection Générale de l’Enseignement · Gestion des frais de fonctionnement</a:t>
            </a:r>
            <a:endParaRPr lang="en-US" sz="1000" dirty="0"/>
          </a:p>
        </p:txBody>
      </p:sp>
      <p:sp>
        <p:nvSpPr>
          <p:cNvPr id="7" name="Text 4"/>
          <p:cNvSpPr/>
          <p:nvPr>
            <p:ph idx="105"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image" Target="../media/image-8-6.png"/><Relationship Id="rId7" Type="http://schemas.openxmlformats.org/officeDocument/2006/relationships/image" Target="../media/image-8-7.jpg"/><Relationship Id="rId8" Type="http://schemas.openxmlformats.org/officeDocument/2006/relationships/image" Target="../media/image-8-8.png"/><Relationship Id="rId9" Type="http://schemas.openxmlformats.org/officeDocument/2006/relationships/image" Target="../media/image-8-9.jpg"/><Relationship Id="rId10" Type="http://schemas.openxmlformats.org/officeDocument/2006/relationships/image" Target="../media/image-8-10.png"/><Relationship Id="rId11" Type="http://schemas.openxmlformats.org/officeDocument/2006/relationships/image" Target="../media/image-8-11.jpg"/><Relationship Id="rId12" Type="http://schemas.openxmlformats.org/officeDocument/2006/relationships/image" Target="../media/image-8-12.png"/><Relationship Id="rId13" Type="http://schemas.openxmlformats.org/officeDocument/2006/relationships/slideLayout" Target="../slideLayouts/slideLayout3.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rmoiries de la République Démocratique du Congo">    </p:cNvPr>
          <p:cNvPicPr>
            <a:picLocks noChangeAspect="1"/>
          </p:cNvPicPr>
          <p:nvPr/>
        </p:nvPicPr>
        <p:blipFill>
          <a:blip r:embed="rId1"/>
          <a:stretch>
            <a:fillRect/>
          </a:stretch>
        </p:blipFill>
        <p:spPr>
          <a:xfrm>
            <a:off x="731520" y="548640"/>
            <a:ext cx="914400" cy="914400"/>
          </a:xfrm>
          <a:prstGeom prst="rect">
            <a:avLst/>
          </a:prstGeom>
        </p:spPr>
      </p:pic>
      <p:sp>
        <p:nvSpPr>
          <p:cNvPr id="3" name="Shape 0"/>
          <p:cNvSpPr/>
          <p:nvPr/>
        </p:nvSpPr>
        <p:spPr>
          <a:xfrm>
            <a:off x="1828800" y="548640"/>
            <a:ext cx="64008" cy="301752"/>
          </a:xfrm>
          <a:prstGeom prst="rect">
            <a:avLst/>
          </a:prstGeom>
          <a:solidFill>
            <a:srgbClr val="0095C9"/>
          </a:solidFill>
          <a:ln/>
        </p:spPr>
      </p:sp>
      <p:sp>
        <p:nvSpPr>
          <p:cNvPr id="4" name="Shape 1"/>
          <p:cNvSpPr/>
          <p:nvPr/>
        </p:nvSpPr>
        <p:spPr>
          <a:xfrm>
            <a:off x="1828800" y="850392"/>
            <a:ext cx="64008" cy="301752"/>
          </a:xfrm>
          <a:prstGeom prst="rect">
            <a:avLst/>
          </a:prstGeom>
          <a:solidFill>
            <a:srgbClr val="FFF24B"/>
          </a:solidFill>
          <a:ln/>
        </p:spPr>
      </p:sp>
      <p:sp>
        <p:nvSpPr>
          <p:cNvPr id="5" name="Shape 2"/>
          <p:cNvSpPr/>
          <p:nvPr/>
        </p:nvSpPr>
        <p:spPr>
          <a:xfrm>
            <a:off x="1828800" y="1152144"/>
            <a:ext cx="64008" cy="301752"/>
          </a:xfrm>
          <a:prstGeom prst="rect">
            <a:avLst/>
          </a:prstGeom>
          <a:solidFill>
            <a:srgbClr val="DB3832"/>
          </a:solidFill>
          <a:ln/>
        </p:spPr>
      </p:sp>
      <p:sp>
        <p:nvSpPr>
          <p:cNvPr id="6" name="Text 3"/>
          <p:cNvSpPr txBox="1"/>
          <p:nvPr/>
        </p:nvSpPr>
        <p:spPr>
          <a:xfrm>
            <a:off x="2057400" y="621792"/>
            <a:ext cx="6400800" cy="777240"/>
          </a:xfrm>
          <a:prstGeom prst="rect">
            <a:avLst/>
          </a:prstGeom>
          <a:noFill/>
          <a:ln/>
        </p:spPr>
        <p:txBody>
          <a:bodyPr wrap="square" lIns="0" tIns="0" rIns="0" bIns="0" rtlCol="0" anchor="ctr"/>
          <a:lstStyle/>
          <a:p>
            <a:pPr indent="0" marL="0">
              <a:spcAft>
                <a:spcPts val="400"/>
              </a:spcAft>
              <a:buNone/>
            </a:pPr>
            <a:r>
              <a:rPr lang="en-US" sz="1400" b="1" dirty="0">
                <a:solidFill>
                  <a:srgbClr val="FFFFFF"/>
                </a:solidFill>
              </a:rPr>
              <a:t>MINISTÈRE DE L’ÉDUCATION NATIONALE ET NOUVELLE CITOYENNETÉ</a:t>
            </a:r>
            <a:endParaRPr lang="en-US" sz="1400" dirty="0"/>
          </a:p>
          <a:p>
            <a:pPr indent="0" marL="0">
              <a:spcAft>
                <a:spcPts val="400"/>
              </a:spcAft>
              <a:buNone/>
            </a:pPr>
            <a:r>
              <a:rPr lang="en-US" sz="1400" dirty="0">
                <a:solidFill>
                  <a:srgbClr val="FFFFFF"/>
                </a:solidFill>
              </a:rPr>
              <a:t>Inspection Générale de l’Enseignement</a:t>
            </a:r>
            <a:endParaRPr lang="en-US" sz="1400" dirty="0"/>
          </a:p>
        </p:txBody>
      </p:sp>
      <p:sp>
        <p:nvSpPr>
          <p:cNvPr id="7" name="Text 3"/>
          <p:cNvSpPr/>
          <p:nvPr>
            <p:ph idx="103" type="title" hasCustomPrompt="1"/>
          </p:nvPr>
        </p:nvSpPr>
        <p:spPr>
          <a:xfrm>
            <a:off x="731520" y="2286000"/>
            <a:ext cx="8046720" cy="1554480"/>
          </a:xfrm>
          <a:prstGeom prst="rect">
            <a:avLst/>
          </a:prstGeom>
          <a:noFill/>
          <a:ln/>
        </p:spPr>
        <p:txBody>
          <a:bodyPr wrap="square" lIns="0" tIns="0" rIns="0" bIns="0" rtlCol="0" anchor="b"/>
          <a:lstStyle/>
          <a:p>
            <a:pPr algn="l" indent="0" marL="0">
              <a:buNone/>
            </a:pPr>
            <a:r>
              <a:rPr lang="en-US" sz="4000" b="1" dirty="0">
                <a:solidFill>
                  <a:schemeClr val="bg1"/>
                </a:solidFill>
              </a:rPr>
              <a:t>Gestion des frais de fonctionnement</a:t>
            </a:r>
            <a:endParaRPr lang="en-US" sz="4000" dirty="0"/>
          </a:p>
        </p:txBody>
      </p:sp>
      <p:sp>
        <p:nvSpPr>
          <p:cNvPr id="8" name="Text 3"/>
          <p:cNvSpPr/>
          <p:nvPr>
            <p:ph idx="104" type="body" hasCustomPrompt="1"/>
          </p:nvPr>
        </p:nvSpPr>
        <p:spPr>
          <a:xfrm>
            <a:off x="731520" y="4069080"/>
            <a:ext cx="8046720" cy="1371600"/>
          </a:xfrm>
          <a:prstGeom prst="rect">
            <a:avLst/>
          </a:prstGeom>
          <a:noFill/>
          <a:ln/>
        </p:spPr>
        <p:txBody>
          <a:bodyPr wrap="square" lIns="0" tIns="0" rIns="0" bIns="0" rtlCol="0" anchor="t"/>
          <a:lstStyle/>
          <a:p>
            <a:pPr algn="l" indent="0" marL="0">
              <a:buNone/>
            </a:pPr>
            <a:r>
              <a:rPr lang="en-US" sz="2000" dirty="0">
                <a:solidFill>
                  <a:schemeClr val="bg1"/>
                </a:solidFill>
              </a:rPr>
              <a:t>Passer d’une gestion manuelle à un pilotage en temps réel, pour tous les services de l’Inspection</a:t>
            </a:r>
            <a:endParaRPr lang="en-US" sz="2000" dirty="0"/>
          </a:p>
        </p:txBody>
      </p:sp>
      <p:sp>
        <p:nvSpPr>
          <p:cNvPr id="9" name="Text 6"/>
          <p:cNvSpPr txBox="1"/>
          <p:nvPr/>
        </p:nvSpPr>
        <p:spPr>
          <a:xfrm>
            <a:off x="731520" y="5989320"/>
            <a:ext cx="8229600" cy="365760"/>
          </a:xfrm>
          <a:prstGeom prst="rect">
            <a:avLst/>
          </a:prstGeom>
          <a:noFill/>
          <a:ln/>
        </p:spPr>
        <p:txBody>
          <a:bodyPr wrap="square" lIns="0" tIns="0" rIns="0" bIns="0" rtlCol="0" anchor="t"/>
          <a:lstStyle/>
          <a:p>
            <a:pPr indent="0" marL="0">
              <a:buNone/>
            </a:pPr>
            <a:r>
              <a:rPr lang="en-US" sz="1300" dirty="0">
                <a:solidFill>
                  <a:srgbClr val="CFE3F5"/>
                </a:solidFill>
              </a:rPr>
              <a:t>Présentation à l’Inspecteur Général et à ses collaborateurs · Administration et Finance</a:t>
            </a:r>
            <a:endParaRPr lang="en-US" sz="1300" dirty="0"/>
          </a:p>
        </p:txBody>
      </p:sp>
      <p:sp>
        <p:nvSpPr>
          <p:cNvPr id="10" name="téléphone"/>
          <p:cNvSpPr/>
          <p:nvPr/>
        </p:nvSpPr>
        <p:spPr>
          <a:xfrm>
            <a:off x="9464040" y="1051560"/>
            <a:ext cx="2464546" cy="5212080"/>
          </a:xfrm>
          <a:prstGeom prst="roundRect">
            <a:avLst>
              <a:gd name="adj" fmla="val 9276"/>
            </a:avLst>
          </a:prstGeom>
          <a:solidFill>
            <a:srgbClr val="1C1C1E"/>
          </a:solidFill>
          <a:ln/>
          <a:effectLst>
            <a:outerShdw sx="100000" sy="100000" kx="0" ky="0" algn="bl" rotWithShape="0" blurRad="127000" dist="50800" dir="5400000">
              <a:srgbClr val="000000">
                <a:alpha val="25000"/>
              </a:srgbClr>
            </a:outerShdw>
          </a:effectLst>
        </p:spPr>
      </p:sp>
      <p:pic>
        <p:nvPicPr>
          <p:cNvPr id="11" name="écran m-dir-synthese.jpg" descr="Synthèse de l’Inspecteur Général sur téléphone">    </p:cNvPr>
          <p:cNvPicPr>
            <a:picLocks noChangeAspect="1"/>
          </p:cNvPicPr>
          <p:nvPr/>
        </p:nvPicPr>
        <p:blipFill>
          <a:blip r:embed="rId2"/>
          <a:srcRect l="0" r="0" t="0" b="0"/>
          <a:stretch/>
        </p:blipFill>
        <p:spPr>
          <a:xfrm>
            <a:off x="9555480" y="1188720"/>
            <a:ext cx="2281666" cy="4937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Aujourd’hui : des registres et des fichiers dispersés</a:t>
            </a:r>
            <a:endParaRPr lang="en-US" sz="3000" dirty="0"/>
          </a:p>
        </p:txBody>
      </p:sp>
      <p:sp>
        <p:nvSpPr>
          <p:cNvPr id="3" name="carte Des caisses tenues à la main"/>
          <p:cNvSpPr/>
          <p:nvPr/>
        </p:nvSpPr>
        <p:spPr>
          <a:xfrm>
            <a:off x="548640" y="1417320"/>
            <a:ext cx="3520440" cy="2148840"/>
          </a:xfrm>
          <a:prstGeom prst="rect">
            <a:avLst/>
          </a:prstGeom>
          <a:solidFill>
            <a:srgbClr val="F3F5F8"/>
          </a:solidFill>
          <a:ln/>
        </p:spPr>
      </p:sp>
      <p:sp>
        <p:nvSpPr>
          <p:cNvPr id="4" name="Shape 2"/>
          <p:cNvSpPr/>
          <p:nvPr/>
        </p:nvSpPr>
        <p:spPr>
          <a:xfrm>
            <a:off x="822960" y="1691640"/>
            <a:ext cx="566928" cy="566928"/>
          </a:xfrm>
          <a:prstGeom prst="ellipse">
            <a:avLst/>
          </a:prstGeom>
          <a:solidFill>
            <a:srgbClr val="DCE6F3"/>
          </a:solidFill>
          <a:ln/>
        </p:spPr>
      </p:sp>
      <p:pic>
        <p:nvPicPr>
          <p:cNvPr id="5" name="Image 0" descr="Des caisses tenues à la main">    </p:cNvPr>
          <p:cNvPicPr>
            <a:picLocks noChangeAspect="1"/>
          </p:cNvPicPr>
          <p:nvPr/>
        </p:nvPicPr>
        <p:blipFill>
          <a:blip r:embed="rId1"/>
          <a:stretch>
            <a:fillRect/>
          </a:stretch>
        </p:blipFill>
        <p:spPr>
          <a:xfrm>
            <a:off x="960120" y="1828800"/>
            <a:ext cx="292608" cy="292608"/>
          </a:xfrm>
          <a:prstGeom prst="rect">
            <a:avLst/>
          </a:prstGeom>
        </p:spPr>
      </p:pic>
      <p:sp>
        <p:nvSpPr>
          <p:cNvPr id="6" name="Text 3"/>
          <p:cNvSpPr txBox="1"/>
          <p:nvPr/>
        </p:nvSpPr>
        <p:spPr>
          <a:xfrm>
            <a:off x="1554480" y="1691640"/>
            <a:ext cx="2331720" cy="566928"/>
          </a:xfrm>
          <a:prstGeom prst="rect">
            <a:avLst/>
          </a:prstGeom>
          <a:noFill/>
          <a:ln/>
        </p:spPr>
        <p:txBody>
          <a:bodyPr wrap="square" lIns="0" tIns="0" rIns="0" bIns="0" rtlCol="0" anchor="ctr"/>
          <a:lstStyle/>
          <a:p>
            <a:pPr indent="0" marL="0">
              <a:buNone/>
            </a:pPr>
            <a:r>
              <a:rPr lang="en-US" sz="1600" b="1" dirty="0">
                <a:solidFill>
                  <a:srgbClr val="17418A"/>
                </a:solidFill>
              </a:rPr>
              <a:t>Des caisses tenues à la main</a:t>
            </a:r>
            <a:endParaRPr lang="en-US" sz="1600" dirty="0"/>
          </a:p>
        </p:txBody>
      </p:sp>
      <p:sp>
        <p:nvSpPr>
          <p:cNvPr id="7" name="Text 4"/>
          <p:cNvSpPr txBox="1"/>
          <p:nvPr/>
        </p:nvSpPr>
        <p:spPr>
          <a:xfrm>
            <a:off x="822960" y="2395728"/>
            <a:ext cx="3017520" cy="1051560"/>
          </a:xfrm>
          <a:prstGeom prst="rect">
            <a:avLst/>
          </a:prstGeom>
          <a:noFill/>
          <a:ln/>
        </p:spPr>
        <p:txBody>
          <a:bodyPr wrap="square" lIns="0" tIns="0" rIns="0" bIns="0" rtlCol="0" anchor="t"/>
          <a:lstStyle/>
          <a:p>
            <a:pPr indent="0" marL="0">
              <a:buNone/>
            </a:pPr>
            <a:r>
              <a:rPr lang="en-US" sz="1300" dirty="0">
                <a:solidFill>
                  <a:srgbClr val="323230"/>
                </a:solidFill>
              </a:rPr>
              <a:t>Chaque service tient ses registres et ses fichiers ; les formats diffèrent d’un bureau à l’autre.</a:t>
            </a:r>
            <a:endParaRPr lang="en-US" sz="1300" dirty="0"/>
          </a:p>
        </p:txBody>
      </p:sp>
      <p:sp>
        <p:nvSpPr>
          <p:cNvPr id="8" name="carte Des transmissions lentes"/>
          <p:cNvSpPr/>
          <p:nvPr/>
        </p:nvSpPr>
        <p:spPr>
          <a:xfrm>
            <a:off x="4297680" y="1417320"/>
            <a:ext cx="3520440" cy="2148840"/>
          </a:xfrm>
          <a:prstGeom prst="rect">
            <a:avLst/>
          </a:prstGeom>
          <a:solidFill>
            <a:srgbClr val="F3F5F8"/>
          </a:solidFill>
          <a:ln/>
        </p:spPr>
      </p:sp>
      <p:sp>
        <p:nvSpPr>
          <p:cNvPr id="9" name="Shape 6"/>
          <p:cNvSpPr/>
          <p:nvPr/>
        </p:nvSpPr>
        <p:spPr>
          <a:xfrm>
            <a:off x="4572000" y="1691640"/>
            <a:ext cx="566928" cy="566928"/>
          </a:xfrm>
          <a:prstGeom prst="ellipse">
            <a:avLst/>
          </a:prstGeom>
          <a:solidFill>
            <a:srgbClr val="DCE6F3"/>
          </a:solidFill>
          <a:ln/>
        </p:spPr>
      </p:sp>
      <p:pic>
        <p:nvPicPr>
          <p:cNvPr id="10" name="Image 1" descr="Des transmissions lentes">    </p:cNvPr>
          <p:cNvPicPr>
            <a:picLocks noChangeAspect="1"/>
          </p:cNvPicPr>
          <p:nvPr/>
        </p:nvPicPr>
        <p:blipFill>
          <a:blip r:embed="rId2"/>
          <a:stretch>
            <a:fillRect/>
          </a:stretch>
        </p:blipFill>
        <p:spPr>
          <a:xfrm>
            <a:off x="4709160" y="1828800"/>
            <a:ext cx="292608" cy="292608"/>
          </a:xfrm>
          <a:prstGeom prst="rect">
            <a:avLst/>
          </a:prstGeom>
        </p:spPr>
      </p:pic>
      <p:sp>
        <p:nvSpPr>
          <p:cNvPr id="11" name="Text 7"/>
          <p:cNvSpPr txBox="1"/>
          <p:nvPr/>
        </p:nvSpPr>
        <p:spPr>
          <a:xfrm>
            <a:off x="5303520" y="1691640"/>
            <a:ext cx="2331720" cy="566928"/>
          </a:xfrm>
          <a:prstGeom prst="rect">
            <a:avLst/>
          </a:prstGeom>
          <a:noFill/>
          <a:ln/>
        </p:spPr>
        <p:txBody>
          <a:bodyPr wrap="square" lIns="0" tIns="0" rIns="0" bIns="0" rtlCol="0" anchor="ctr"/>
          <a:lstStyle/>
          <a:p>
            <a:pPr indent="0" marL="0">
              <a:buNone/>
            </a:pPr>
            <a:r>
              <a:rPr lang="en-US" sz="1600" b="1" dirty="0">
                <a:solidFill>
                  <a:srgbClr val="17418A"/>
                </a:solidFill>
              </a:rPr>
              <a:t>Des transmissions lentes</a:t>
            </a:r>
            <a:endParaRPr lang="en-US" sz="1600" dirty="0"/>
          </a:p>
        </p:txBody>
      </p:sp>
      <p:sp>
        <p:nvSpPr>
          <p:cNvPr id="12" name="Text 8"/>
          <p:cNvSpPr txBox="1"/>
          <p:nvPr/>
        </p:nvSpPr>
        <p:spPr>
          <a:xfrm>
            <a:off x="4572000" y="2395728"/>
            <a:ext cx="3017520" cy="1051560"/>
          </a:xfrm>
          <a:prstGeom prst="rect">
            <a:avLst/>
          </a:prstGeom>
          <a:noFill/>
          <a:ln/>
        </p:spPr>
        <p:txBody>
          <a:bodyPr wrap="square" lIns="0" tIns="0" rIns="0" bIns="0" rtlCol="0" anchor="t"/>
          <a:lstStyle/>
          <a:p>
            <a:pPr indent="0" marL="0">
              <a:buNone/>
            </a:pPr>
            <a:r>
              <a:rPr lang="en-US" sz="1300" dirty="0">
                <a:solidFill>
                  <a:srgbClr val="323230"/>
                </a:solidFill>
              </a:rPr>
              <a:t>Les situations arrivent au central par papier ou par messagerie, souvent en fin de mois ou en retard.</a:t>
            </a:r>
            <a:endParaRPr lang="en-US" sz="1300" dirty="0"/>
          </a:p>
        </p:txBody>
      </p:sp>
      <p:sp>
        <p:nvSpPr>
          <p:cNvPr id="13" name="carte Une consolidation tardive"/>
          <p:cNvSpPr/>
          <p:nvPr/>
        </p:nvSpPr>
        <p:spPr>
          <a:xfrm>
            <a:off x="8046720" y="1417320"/>
            <a:ext cx="3520440" cy="2148840"/>
          </a:xfrm>
          <a:prstGeom prst="rect">
            <a:avLst/>
          </a:prstGeom>
          <a:solidFill>
            <a:srgbClr val="F3F5F8"/>
          </a:solidFill>
          <a:ln/>
        </p:spPr>
      </p:sp>
      <p:sp>
        <p:nvSpPr>
          <p:cNvPr id="14" name="Shape 10"/>
          <p:cNvSpPr/>
          <p:nvPr/>
        </p:nvSpPr>
        <p:spPr>
          <a:xfrm>
            <a:off x="8321040" y="1691640"/>
            <a:ext cx="566928" cy="566928"/>
          </a:xfrm>
          <a:prstGeom prst="ellipse">
            <a:avLst/>
          </a:prstGeom>
          <a:solidFill>
            <a:srgbClr val="DCE6F3"/>
          </a:solidFill>
          <a:ln/>
        </p:spPr>
      </p:sp>
      <p:pic>
        <p:nvPicPr>
          <p:cNvPr id="15" name="Image 2" descr="Une consolidation tardive">    </p:cNvPr>
          <p:cNvPicPr>
            <a:picLocks noChangeAspect="1"/>
          </p:cNvPicPr>
          <p:nvPr/>
        </p:nvPicPr>
        <p:blipFill>
          <a:blip r:embed="rId3"/>
          <a:stretch>
            <a:fillRect/>
          </a:stretch>
        </p:blipFill>
        <p:spPr>
          <a:xfrm>
            <a:off x="8458200" y="1828800"/>
            <a:ext cx="292608" cy="292608"/>
          </a:xfrm>
          <a:prstGeom prst="rect">
            <a:avLst/>
          </a:prstGeom>
        </p:spPr>
      </p:pic>
      <p:sp>
        <p:nvSpPr>
          <p:cNvPr id="16" name="Text 11"/>
          <p:cNvSpPr txBox="1"/>
          <p:nvPr/>
        </p:nvSpPr>
        <p:spPr>
          <a:xfrm>
            <a:off x="9052560" y="1691640"/>
            <a:ext cx="2331720" cy="566928"/>
          </a:xfrm>
          <a:prstGeom prst="rect">
            <a:avLst/>
          </a:prstGeom>
          <a:noFill/>
          <a:ln/>
        </p:spPr>
        <p:txBody>
          <a:bodyPr wrap="square" lIns="0" tIns="0" rIns="0" bIns="0" rtlCol="0" anchor="ctr"/>
          <a:lstStyle/>
          <a:p>
            <a:pPr indent="0" marL="0">
              <a:buNone/>
            </a:pPr>
            <a:r>
              <a:rPr lang="en-US" sz="1600" b="1" dirty="0">
                <a:solidFill>
                  <a:srgbClr val="17418A"/>
                </a:solidFill>
              </a:rPr>
              <a:t>Une consolidation tardive</a:t>
            </a:r>
            <a:endParaRPr lang="en-US" sz="1600" dirty="0"/>
          </a:p>
        </p:txBody>
      </p:sp>
      <p:sp>
        <p:nvSpPr>
          <p:cNvPr id="17" name="Text 12"/>
          <p:cNvSpPr txBox="1"/>
          <p:nvPr/>
        </p:nvSpPr>
        <p:spPr>
          <a:xfrm>
            <a:off x="8321040" y="2395728"/>
            <a:ext cx="3017520" cy="1051560"/>
          </a:xfrm>
          <a:prstGeom prst="rect">
            <a:avLst/>
          </a:prstGeom>
          <a:noFill/>
          <a:ln/>
        </p:spPr>
        <p:txBody>
          <a:bodyPr wrap="square" lIns="0" tIns="0" rIns="0" bIns="0" rtlCol="0" anchor="t"/>
          <a:lstStyle/>
          <a:p>
            <a:pPr indent="0" marL="0">
              <a:buNone/>
            </a:pPr>
            <a:r>
              <a:rPr lang="en-US" sz="1300" dirty="0">
                <a:solidFill>
                  <a:srgbClr val="323230"/>
                </a:solidFill>
              </a:rPr>
              <a:t>Administration et Finance ressaisit et rapproche les chiffres : la vue d’ensemble arrive des semaines après les faits.</a:t>
            </a:r>
            <a:endParaRPr lang="en-US" sz="1300" dirty="0"/>
          </a:p>
        </p:txBody>
      </p:sp>
      <p:sp>
        <p:nvSpPr>
          <p:cNvPr id="18" name="carte Des contrôles après coup"/>
          <p:cNvSpPr/>
          <p:nvPr/>
        </p:nvSpPr>
        <p:spPr>
          <a:xfrm>
            <a:off x="548640" y="3794760"/>
            <a:ext cx="3520440" cy="2148840"/>
          </a:xfrm>
          <a:prstGeom prst="rect">
            <a:avLst/>
          </a:prstGeom>
          <a:solidFill>
            <a:srgbClr val="F3F5F8"/>
          </a:solidFill>
          <a:ln/>
        </p:spPr>
      </p:sp>
      <p:sp>
        <p:nvSpPr>
          <p:cNvPr id="19" name="Shape 14"/>
          <p:cNvSpPr/>
          <p:nvPr/>
        </p:nvSpPr>
        <p:spPr>
          <a:xfrm>
            <a:off x="822960" y="4069080"/>
            <a:ext cx="566928" cy="566928"/>
          </a:xfrm>
          <a:prstGeom prst="ellipse">
            <a:avLst/>
          </a:prstGeom>
          <a:solidFill>
            <a:srgbClr val="DCE6F3"/>
          </a:solidFill>
          <a:ln/>
        </p:spPr>
      </p:sp>
      <p:pic>
        <p:nvPicPr>
          <p:cNvPr id="20" name="Image 3" descr="Des contrôles après coup">    </p:cNvPr>
          <p:cNvPicPr>
            <a:picLocks noChangeAspect="1"/>
          </p:cNvPicPr>
          <p:nvPr/>
        </p:nvPicPr>
        <p:blipFill>
          <a:blip r:embed="rId4"/>
          <a:stretch>
            <a:fillRect/>
          </a:stretch>
        </p:blipFill>
        <p:spPr>
          <a:xfrm>
            <a:off x="960120" y="4206240"/>
            <a:ext cx="292608" cy="292608"/>
          </a:xfrm>
          <a:prstGeom prst="rect">
            <a:avLst/>
          </a:prstGeom>
        </p:spPr>
      </p:pic>
      <p:sp>
        <p:nvSpPr>
          <p:cNvPr id="21" name="Text 15"/>
          <p:cNvSpPr txBox="1"/>
          <p:nvPr/>
        </p:nvSpPr>
        <p:spPr>
          <a:xfrm>
            <a:off x="1554480" y="4069080"/>
            <a:ext cx="2331720" cy="566928"/>
          </a:xfrm>
          <a:prstGeom prst="rect">
            <a:avLst/>
          </a:prstGeom>
          <a:noFill/>
          <a:ln/>
        </p:spPr>
        <p:txBody>
          <a:bodyPr wrap="square" lIns="0" tIns="0" rIns="0" bIns="0" rtlCol="0" anchor="ctr"/>
          <a:lstStyle/>
          <a:p>
            <a:pPr indent="0" marL="0">
              <a:buNone/>
            </a:pPr>
            <a:r>
              <a:rPr lang="en-US" sz="1600" b="1" dirty="0">
                <a:solidFill>
                  <a:srgbClr val="17418A"/>
                </a:solidFill>
              </a:rPr>
              <a:t>Des contrôles après coup</a:t>
            </a:r>
            <a:endParaRPr lang="en-US" sz="1600" dirty="0"/>
          </a:p>
        </p:txBody>
      </p:sp>
      <p:sp>
        <p:nvSpPr>
          <p:cNvPr id="22" name="Text 16"/>
          <p:cNvSpPr txBox="1"/>
          <p:nvPr/>
        </p:nvSpPr>
        <p:spPr>
          <a:xfrm>
            <a:off x="822960" y="4773168"/>
            <a:ext cx="3017520" cy="1051560"/>
          </a:xfrm>
          <a:prstGeom prst="rect">
            <a:avLst/>
          </a:prstGeom>
          <a:noFill/>
          <a:ln/>
        </p:spPr>
        <p:txBody>
          <a:bodyPr wrap="square" lIns="0" tIns="0" rIns="0" bIns="0" rtlCol="0" anchor="t"/>
          <a:lstStyle/>
          <a:p>
            <a:pPr indent="0" marL="0">
              <a:buNone/>
            </a:pPr>
            <a:r>
              <a:rPr lang="en-US" sz="1300" dirty="0">
                <a:solidFill>
                  <a:srgbClr val="323230"/>
                </a:solidFill>
              </a:rPr>
              <a:t>Doublons, fractionnements ou dépassements de budget ne se voient qu’à la vérification, quand l’argent est déjà sorti.</a:t>
            </a:r>
            <a:endParaRPr lang="en-US" sz="1300" dirty="0"/>
          </a:p>
        </p:txBody>
      </p:sp>
      <p:sp>
        <p:nvSpPr>
          <p:cNvPr id="23" name="carte Des pièces difficiles à retrouver"/>
          <p:cNvSpPr/>
          <p:nvPr/>
        </p:nvSpPr>
        <p:spPr>
          <a:xfrm>
            <a:off x="4297680" y="3794760"/>
            <a:ext cx="3520440" cy="2148840"/>
          </a:xfrm>
          <a:prstGeom prst="rect">
            <a:avLst/>
          </a:prstGeom>
          <a:solidFill>
            <a:srgbClr val="F3F5F8"/>
          </a:solidFill>
          <a:ln/>
        </p:spPr>
      </p:sp>
      <p:sp>
        <p:nvSpPr>
          <p:cNvPr id="24" name="Shape 18"/>
          <p:cNvSpPr/>
          <p:nvPr/>
        </p:nvSpPr>
        <p:spPr>
          <a:xfrm>
            <a:off x="4572000" y="4069080"/>
            <a:ext cx="566928" cy="566928"/>
          </a:xfrm>
          <a:prstGeom prst="ellipse">
            <a:avLst/>
          </a:prstGeom>
          <a:solidFill>
            <a:srgbClr val="DCE6F3"/>
          </a:solidFill>
          <a:ln/>
        </p:spPr>
      </p:sp>
      <p:pic>
        <p:nvPicPr>
          <p:cNvPr id="25" name="Image 4" descr="Des pièces difficiles à retrouver">    </p:cNvPr>
          <p:cNvPicPr>
            <a:picLocks noChangeAspect="1"/>
          </p:cNvPicPr>
          <p:nvPr/>
        </p:nvPicPr>
        <p:blipFill>
          <a:blip r:embed="rId5"/>
          <a:stretch>
            <a:fillRect/>
          </a:stretch>
        </p:blipFill>
        <p:spPr>
          <a:xfrm>
            <a:off x="4709160" y="4206240"/>
            <a:ext cx="292608" cy="292608"/>
          </a:xfrm>
          <a:prstGeom prst="rect">
            <a:avLst/>
          </a:prstGeom>
        </p:spPr>
      </p:pic>
      <p:sp>
        <p:nvSpPr>
          <p:cNvPr id="26" name="Text 19"/>
          <p:cNvSpPr txBox="1"/>
          <p:nvPr/>
        </p:nvSpPr>
        <p:spPr>
          <a:xfrm>
            <a:off x="5303520" y="4069080"/>
            <a:ext cx="2331720" cy="566928"/>
          </a:xfrm>
          <a:prstGeom prst="rect">
            <a:avLst/>
          </a:prstGeom>
          <a:noFill/>
          <a:ln/>
        </p:spPr>
        <p:txBody>
          <a:bodyPr wrap="square" lIns="0" tIns="0" rIns="0" bIns="0" rtlCol="0" anchor="ctr"/>
          <a:lstStyle/>
          <a:p>
            <a:pPr indent="0" marL="0">
              <a:buNone/>
            </a:pPr>
            <a:r>
              <a:rPr lang="en-US" sz="1600" b="1" dirty="0">
                <a:solidFill>
                  <a:srgbClr val="17418A"/>
                </a:solidFill>
              </a:rPr>
              <a:t>Des pièces difficiles à retrouver</a:t>
            </a:r>
            <a:endParaRPr lang="en-US" sz="1600" dirty="0"/>
          </a:p>
        </p:txBody>
      </p:sp>
      <p:sp>
        <p:nvSpPr>
          <p:cNvPr id="27" name="Text 20"/>
          <p:cNvSpPr txBox="1"/>
          <p:nvPr/>
        </p:nvSpPr>
        <p:spPr>
          <a:xfrm>
            <a:off x="4572000" y="4773168"/>
            <a:ext cx="3017520" cy="1051560"/>
          </a:xfrm>
          <a:prstGeom prst="rect">
            <a:avLst/>
          </a:prstGeom>
          <a:noFill/>
          <a:ln/>
        </p:spPr>
        <p:txBody>
          <a:bodyPr wrap="square" lIns="0" tIns="0" rIns="0" bIns="0" rtlCol="0" anchor="t"/>
          <a:lstStyle/>
          <a:p>
            <a:pPr indent="0" marL="0">
              <a:buNone/>
            </a:pPr>
            <a:r>
              <a:rPr lang="en-US" sz="1300" dirty="0">
                <a:solidFill>
                  <a:srgbClr val="323230"/>
                </a:solidFill>
              </a:rPr>
              <a:t>Factures et reçus voyagent sur papier ; une pièce manquante bloque le contrôle ou passe inaperçue.</a:t>
            </a:r>
            <a:endParaRPr lang="en-US" sz="1300" dirty="0"/>
          </a:p>
        </p:txBody>
      </p:sp>
      <p:sp>
        <p:nvSpPr>
          <p:cNvPr id="28" name="carte Peu de traçabilité"/>
          <p:cNvSpPr/>
          <p:nvPr/>
        </p:nvSpPr>
        <p:spPr>
          <a:xfrm>
            <a:off x="8046720" y="3794760"/>
            <a:ext cx="3520440" cy="2148840"/>
          </a:xfrm>
          <a:prstGeom prst="rect">
            <a:avLst/>
          </a:prstGeom>
          <a:solidFill>
            <a:srgbClr val="F3F5F8"/>
          </a:solidFill>
          <a:ln/>
        </p:spPr>
      </p:sp>
      <p:sp>
        <p:nvSpPr>
          <p:cNvPr id="29" name="Shape 22"/>
          <p:cNvSpPr/>
          <p:nvPr/>
        </p:nvSpPr>
        <p:spPr>
          <a:xfrm>
            <a:off x="8321040" y="4069080"/>
            <a:ext cx="566928" cy="566928"/>
          </a:xfrm>
          <a:prstGeom prst="ellipse">
            <a:avLst/>
          </a:prstGeom>
          <a:solidFill>
            <a:srgbClr val="DCE6F3"/>
          </a:solidFill>
          <a:ln/>
        </p:spPr>
      </p:sp>
      <p:pic>
        <p:nvPicPr>
          <p:cNvPr id="30" name="Image 5" descr="Peu de traçabilité">    </p:cNvPr>
          <p:cNvPicPr>
            <a:picLocks noChangeAspect="1"/>
          </p:cNvPicPr>
          <p:nvPr/>
        </p:nvPicPr>
        <p:blipFill>
          <a:blip r:embed="rId6"/>
          <a:stretch>
            <a:fillRect/>
          </a:stretch>
        </p:blipFill>
        <p:spPr>
          <a:xfrm>
            <a:off x="8458200" y="4206240"/>
            <a:ext cx="292608" cy="292608"/>
          </a:xfrm>
          <a:prstGeom prst="rect">
            <a:avLst/>
          </a:prstGeom>
        </p:spPr>
      </p:pic>
      <p:sp>
        <p:nvSpPr>
          <p:cNvPr id="31" name="Text 23"/>
          <p:cNvSpPr txBox="1"/>
          <p:nvPr/>
        </p:nvSpPr>
        <p:spPr>
          <a:xfrm>
            <a:off x="9052560" y="4069080"/>
            <a:ext cx="2331720" cy="566928"/>
          </a:xfrm>
          <a:prstGeom prst="rect">
            <a:avLst/>
          </a:prstGeom>
          <a:noFill/>
          <a:ln/>
        </p:spPr>
        <p:txBody>
          <a:bodyPr wrap="square" lIns="0" tIns="0" rIns="0" bIns="0" rtlCol="0" anchor="ctr"/>
          <a:lstStyle/>
          <a:p>
            <a:pPr indent="0" marL="0">
              <a:buNone/>
            </a:pPr>
            <a:r>
              <a:rPr lang="en-US" sz="1600" b="1" dirty="0">
                <a:solidFill>
                  <a:srgbClr val="17418A"/>
                </a:solidFill>
              </a:rPr>
              <a:t>Peu de traçabilité</a:t>
            </a:r>
            <a:endParaRPr lang="en-US" sz="1600" dirty="0"/>
          </a:p>
        </p:txBody>
      </p:sp>
      <p:sp>
        <p:nvSpPr>
          <p:cNvPr id="32" name="Text 24"/>
          <p:cNvSpPr txBox="1"/>
          <p:nvPr/>
        </p:nvSpPr>
        <p:spPr>
          <a:xfrm>
            <a:off x="8321040" y="4773168"/>
            <a:ext cx="3017520" cy="1051560"/>
          </a:xfrm>
          <a:prstGeom prst="rect">
            <a:avLst/>
          </a:prstGeom>
          <a:noFill/>
          <a:ln/>
        </p:spPr>
        <p:txBody>
          <a:bodyPr wrap="square" lIns="0" tIns="0" rIns="0" bIns="0" rtlCol="0" anchor="t"/>
          <a:lstStyle/>
          <a:p>
            <a:pPr indent="0" marL="0">
              <a:buNone/>
            </a:pPr>
            <a:r>
              <a:rPr lang="en-US" sz="1300" dirty="0">
                <a:solidFill>
                  <a:srgbClr val="323230"/>
                </a:solidFill>
              </a:rPr>
              <a:t>Il est difficile de savoir qui a modifié quoi, quand, et de démontrer la régularité d’une opération.</a:t>
            </a:r>
            <a:endParaRPr lang="en-US" sz="13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Ce que change l’application, point par point</a:t>
            </a:r>
            <a:endParaRPr lang="en-US" sz="3000" dirty="0"/>
          </a:p>
        </p:txBody>
      </p:sp>
      <p:sp>
        <p:nvSpPr>
          <p:cNvPr id="3" name="Shape 1"/>
          <p:cNvSpPr/>
          <p:nvPr/>
        </p:nvSpPr>
        <p:spPr>
          <a:xfrm>
            <a:off x="3200400" y="1371600"/>
            <a:ext cx="4114800" cy="4919472"/>
          </a:xfrm>
          <a:prstGeom prst="rect">
            <a:avLst/>
          </a:prstGeom>
          <a:solidFill>
            <a:srgbClr val="F3F5F8"/>
          </a:solidFill>
          <a:ln/>
        </p:spPr>
      </p:sp>
      <p:sp>
        <p:nvSpPr>
          <p:cNvPr id="4" name="Text 2"/>
          <p:cNvSpPr txBox="1"/>
          <p:nvPr/>
        </p:nvSpPr>
        <p:spPr>
          <a:xfrm>
            <a:off x="3429000" y="1481328"/>
            <a:ext cx="3657600" cy="411480"/>
          </a:xfrm>
          <a:prstGeom prst="rect">
            <a:avLst/>
          </a:prstGeom>
          <a:noFill/>
          <a:ln/>
        </p:spPr>
        <p:txBody>
          <a:bodyPr wrap="square" lIns="0" tIns="0" rIns="0" bIns="0" rtlCol="0" anchor="ctr"/>
          <a:lstStyle/>
          <a:p>
            <a:pPr indent="0" marL="0">
              <a:buNone/>
            </a:pPr>
            <a:r>
              <a:rPr lang="en-US" sz="1600" b="1" dirty="0">
                <a:solidFill>
                  <a:srgbClr val="5D6670"/>
                </a:solidFill>
              </a:rPr>
              <a:t>Aujourd’hui</a:t>
            </a:r>
            <a:endParaRPr lang="en-US" sz="1600" dirty="0"/>
          </a:p>
        </p:txBody>
      </p:sp>
      <p:sp>
        <p:nvSpPr>
          <p:cNvPr id="5" name="Shape 3"/>
          <p:cNvSpPr/>
          <p:nvPr/>
        </p:nvSpPr>
        <p:spPr>
          <a:xfrm>
            <a:off x="7406640" y="1371600"/>
            <a:ext cx="4389120" cy="4919472"/>
          </a:xfrm>
          <a:prstGeom prst="rect">
            <a:avLst/>
          </a:prstGeom>
          <a:solidFill>
            <a:srgbClr val="E6F3EA"/>
          </a:solidFill>
          <a:ln/>
        </p:spPr>
      </p:sp>
      <p:sp>
        <p:nvSpPr>
          <p:cNvPr id="6" name="Text 4"/>
          <p:cNvSpPr txBox="1"/>
          <p:nvPr/>
        </p:nvSpPr>
        <p:spPr>
          <a:xfrm>
            <a:off x="7635240" y="1481328"/>
            <a:ext cx="3931920" cy="411480"/>
          </a:xfrm>
          <a:prstGeom prst="rect">
            <a:avLst/>
          </a:prstGeom>
          <a:noFill/>
          <a:ln/>
        </p:spPr>
        <p:txBody>
          <a:bodyPr wrap="square" lIns="0" tIns="0" rIns="0" bIns="0" rtlCol="0" anchor="ctr"/>
          <a:lstStyle/>
          <a:p>
            <a:pPr indent="0" marL="0">
              <a:buNone/>
            </a:pPr>
            <a:r>
              <a:rPr lang="en-US" sz="1600" b="1" dirty="0">
                <a:solidFill>
                  <a:srgbClr val="2E6B12"/>
                </a:solidFill>
              </a:rPr>
              <a:t>Avec l’application</a:t>
            </a:r>
            <a:endParaRPr lang="en-US" sz="1600" dirty="0"/>
          </a:p>
        </p:txBody>
      </p:sp>
      <p:sp>
        <p:nvSpPr>
          <p:cNvPr id="7" name="Text 5"/>
          <p:cNvSpPr txBox="1"/>
          <p:nvPr/>
        </p:nvSpPr>
        <p:spPr>
          <a:xfrm>
            <a:off x="548640" y="2048256"/>
            <a:ext cx="2560320" cy="457200"/>
          </a:xfrm>
          <a:prstGeom prst="rect">
            <a:avLst/>
          </a:prstGeom>
          <a:noFill/>
          <a:ln/>
        </p:spPr>
        <p:txBody>
          <a:bodyPr wrap="square" lIns="0" tIns="0" rIns="0" bIns="0" rtlCol="0" anchor="ctr"/>
          <a:lstStyle/>
          <a:p>
            <a:pPr indent="0" marL="0">
              <a:buNone/>
            </a:pPr>
            <a:r>
              <a:rPr lang="en-US" sz="1400" b="1" dirty="0">
                <a:solidFill>
                  <a:srgbClr val="17418A"/>
                </a:solidFill>
              </a:rPr>
              <a:t>Saisie</a:t>
            </a:r>
            <a:endParaRPr lang="en-US" sz="1400" dirty="0"/>
          </a:p>
        </p:txBody>
      </p:sp>
      <p:sp>
        <p:nvSpPr>
          <p:cNvPr id="8" name="Text 6"/>
          <p:cNvSpPr txBox="1"/>
          <p:nvPr/>
        </p:nvSpPr>
        <p:spPr>
          <a:xfrm>
            <a:off x="3429000" y="2048256"/>
            <a:ext cx="3749040" cy="457200"/>
          </a:xfrm>
          <a:prstGeom prst="rect">
            <a:avLst/>
          </a:prstGeom>
          <a:noFill/>
          <a:ln/>
        </p:spPr>
        <p:txBody>
          <a:bodyPr wrap="square" lIns="0" tIns="0" rIns="0" bIns="0" rtlCol="0" anchor="ctr"/>
          <a:lstStyle/>
          <a:p>
            <a:pPr indent="0" marL="0">
              <a:buNone/>
            </a:pPr>
            <a:r>
              <a:rPr lang="en-US" sz="1400" dirty="0">
                <a:solidFill>
                  <a:srgbClr val="5D6670"/>
                </a:solidFill>
              </a:rPr>
              <a:t>Registres et fichiers par service</a:t>
            </a:r>
            <a:endParaRPr lang="en-US" sz="1400" dirty="0"/>
          </a:p>
        </p:txBody>
      </p:sp>
      <p:sp>
        <p:nvSpPr>
          <p:cNvPr id="9" name="Text 7"/>
          <p:cNvSpPr txBox="1"/>
          <p:nvPr/>
        </p:nvSpPr>
        <p:spPr>
          <a:xfrm>
            <a:off x="7635240" y="2048256"/>
            <a:ext cx="4023360" cy="457200"/>
          </a:xfrm>
          <a:prstGeom prst="rect">
            <a:avLst/>
          </a:prstGeom>
          <a:noFill/>
          <a:ln/>
        </p:spPr>
        <p:txBody>
          <a:bodyPr wrap="square" lIns="0" tIns="0" rIns="0" bIns="0" rtlCol="0" anchor="ctr"/>
          <a:lstStyle/>
          <a:p>
            <a:pPr indent="0" marL="0">
              <a:buNone/>
            </a:pPr>
            <a:r>
              <a:rPr lang="en-US" sz="1400" b="1" dirty="0">
                <a:solidFill>
                  <a:srgbClr val="323230"/>
                </a:solidFill>
              </a:rPr>
              <a:t>Saisie le jour même, sur ordinateur ou téléphone</a:t>
            </a:r>
            <a:endParaRPr lang="en-US" sz="1400" dirty="0"/>
          </a:p>
        </p:txBody>
      </p:sp>
      <p:sp>
        <p:nvSpPr>
          <p:cNvPr id="10" name="Text 8"/>
          <p:cNvSpPr txBox="1"/>
          <p:nvPr/>
        </p:nvSpPr>
        <p:spPr>
          <a:xfrm>
            <a:off x="548640" y="2651760"/>
            <a:ext cx="2560320" cy="457200"/>
          </a:xfrm>
          <a:prstGeom prst="rect">
            <a:avLst/>
          </a:prstGeom>
          <a:noFill/>
          <a:ln/>
        </p:spPr>
        <p:txBody>
          <a:bodyPr wrap="square" lIns="0" tIns="0" rIns="0" bIns="0" rtlCol="0" anchor="ctr"/>
          <a:lstStyle/>
          <a:p>
            <a:pPr indent="0" marL="0">
              <a:buNone/>
            </a:pPr>
            <a:r>
              <a:rPr lang="en-US" sz="1400" b="1" dirty="0">
                <a:solidFill>
                  <a:srgbClr val="17418A"/>
                </a:solidFill>
              </a:rPr>
              <a:t>Pièces justificatives</a:t>
            </a:r>
            <a:endParaRPr lang="en-US" sz="1400" dirty="0"/>
          </a:p>
        </p:txBody>
      </p:sp>
      <p:sp>
        <p:nvSpPr>
          <p:cNvPr id="11" name="Text 9"/>
          <p:cNvSpPr txBox="1"/>
          <p:nvPr/>
        </p:nvSpPr>
        <p:spPr>
          <a:xfrm>
            <a:off x="3429000" y="2651760"/>
            <a:ext cx="3749040" cy="457200"/>
          </a:xfrm>
          <a:prstGeom prst="rect">
            <a:avLst/>
          </a:prstGeom>
          <a:noFill/>
          <a:ln/>
        </p:spPr>
        <p:txBody>
          <a:bodyPr wrap="square" lIns="0" tIns="0" rIns="0" bIns="0" rtlCol="0" anchor="ctr"/>
          <a:lstStyle/>
          <a:p>
            <a:pPr indent="0" marL="0">
              <a:buNone/>
            </a:pPr>
            <a:r>
              <a:rPr lang="en-US" sz="1400" dirty="0">
                <a:solidFill>
                  <a:srgbClr val="5D6670"/>
                </a:solidFill>
              </a:rPr>
              <a:t>Papier, transmis à part</a:t>
            </a:r>
            <a:endParaRPr lang="en-US" sz="1400" dirty="0"/>
          </a:p>
        </p:txBody>
      </p:sp>
      <p:sp>
        <p:nvSpPr>
          <p:cNvPr id="12" name="Text 10"/>
          <p:cNvSpPr txBox="1"/>
          <p:nvPr/>
        </p:nvSpPr>
        <p:spPr>
          <a:xfrm>
            <a:off x="7635240" y="2651760"/>
            <a:ext cx="4023360" cy="457200"/>
          </a:xfrm>
          <a:prstGeom prst="rect">
            <a:avLst/>
          </a:prstGeom>
          <a:noFill/>
          <a:ln/>
        </p:spPr>
        <p:txBody>
          <a:bodyPr wrap="square" lIns="0" tIns="0" rIns="0" bIns="0" rtlCol="0" anchor="ctr"/>
          <a:lstStyle/>
          <a:p>
            <a:pPr indent="0" marL="0">
              <a:buNone/>
            </a:pPr>
            <a:r>
              <a:rPr lang="en-US" sz="1400" b="1" dirty="0">
                <a:solidFill>
                  <a:srgbClr val="323230"/>
                </a:solidFill>
              </a:rPr>
              <a:t>Photo ou PDF joint à chaque dépense</a:t>
            </a:r>
            <a:endParaRPr lang="en-US" sz="1400" dirty="0"/>
          </a:p>
        </p:txBody>
      </p:sp>
      <p:sp>
        <p:nvSpPr>
          <p:cNvPr id="13" name="Shape 11"/>
          <p:cNvSpPr/>
          <p:nvPr/>
        </p:nvSpPr>
        <p:spPr>
          <a:xfrm>
            <a:off x="548640" y="2578608"/>
            <a:ext cx="11247120" cy="0"/>
          </a:xfrm>
          <a:prstGeom prst="line">
            <a:avLst/>
          </a:prstGeom>
          <a:noFill/>
          <a:ln w="9525">
            <a:solidFill>
              <a:srgbClr val="E1E5EA"/>
            </a:solidFill>
            <a:prstDash val="solid"/>
          </a:ln>
        </p:spPr>
      </p:sp>
      <p:sp>
        <p:nvSpPr>
          <p:cNvPr id="14" name="Text 12"/>
          <p:cNvSpPr txBox="1"/>
          <p:nvPr/>
        </p:nvSpPr>
        <p:spPr>
          <a:xfrm>
            <a:off x="548640" y="3255264"/>
            <a:ext cx="2560320" cy="457200"/>
          </a:xfrm>
          <a:prstGeom prst="rect">
            <a:avLst/>
          </a:prstGeom>
          <a:noFill/>
          <a:ln/>
        </p:spPr>
        <p:txBody>
          <a:bodyPr wrap="square" lIns="0" tIns="0" rIns="0" bIns="0" rtlCol="0" anchor="ctr"/>
          <a:lstStyle/>
          <a:p>
            <a:pPr indent="0" marL="0">
              <a:buNone/>
            </a:pPr>
            <a:r>
              <a:rPr lang="en-US" sz="1400" b="1" dirty="0">
                <a:solidFill>
                  <a:srgbClr val="17418A"/>
                </a:solidFill>
              </a:rPr>
              <a:t>Contrôles</a:t>
            </a:r>
            <a:endParaRPr lang="en-US" sz="1400" dirty="0"/>
          </a:p>
        </p:txBody>
      </p:sp>
      <p:sp>
        <p:nvSpPr>
          <p:cNvPr id="15" name="Text 13"/>
          <p:cNvSpPr txBox="1"/>
          <p:nvPr/>
        </p:nvSpPr>
        <p:spPr>
          <a:xfrm>
            <a:off x="3429000" y="3255264"/>
            <a:ext cx="3749040" cy="457200"/>
          </a:xfrm>
          <a:prstGeom prst="rect">
            <a:avLst/>
          </a:prstGeom>
          <a:noFill/>
          <a:ln/>
        </p:spPr>
        <p:txBody>
          <a:bodyPr wrap="square" lIns="0" tIns="0" rIns="0" bIns="0" rtlCol="0" anchor="ctr"/>
          <a:lstStyle/>
          <a:p>
            <a:pPr indent="0" marL="0">
              <a:buNone/>
            </a:pPr>
            <a:r>
              <a:rPr lang="en-US" sz="1400" dirty="0">
                <a:solidFill>
                  <a:srgbClr val="5D6670"/>
                </a:solidFill>
              </a:rPr>
              <a:t>À la vérification, après la dépense</a:t>
            </a:r>
            <a:endParaRPr lang="en-US" sz="1400" dirty="0"/>
          </a:p>
        </p:txBody>
      </p:sp>
      <p:sp>
        <p:nvSpPr>
          <p:cNvPr id="16" name="Text 14"/>
          <p:cNvSpPr txBox="1"/>
          <p:nvPr/>
        </p:nvSpPr>
        <p:spPr>
          <a:xfrm>
            <a:off x="7635240" y="3255264"/>
            <a:ext cx="4023360" cy="457200"/>
          </a:xfrm>
          <a:prstGeom prst="rect">
            <a:avLst/>
          </a:prstGeom>
          <a:noFill/>
          <a:ln/>
        </p:spPr>
        <p:txBody>
          <a:bodyPr wrap="square" lIns="0" tIns="0" rIns="0" bIns="0" rtlCol="0" anchor="ctr"/>
          <a:lstStyle/>
          <a:p>
            <a:pPr indent="0" marL="0">
              <a:buNone/>
            </a:pPr>
            <a:r>
              <a:rPr lang="en-US" sz="1400" b="1" dirty="0">
                <a:solidFill>
                  <a:srgbClr val="323230"/>
                </a:solidFill>
              </a:rPr>
              <a:t>Au moment de la saisie : caisse, budget, plafond, pièce</a:t>
            </a:r>
            <a:endParaRPr lang="en-US" sz="1400" dirty="0"/>
          </a:p>
        </p:txBody>
      </p:sp>
      <p:sp>
        <p:nvSpPr>
          <p:cNvPr id="17" name="Shape 15"/>
          <p:cNvSpPr/>
          <p:nvPr/>
        </p:nvSpPr>
        <p:spPr>
          <a:xfrm>
            <a:off x="548640" y="3182112"/>
            <a:ext cx="11247120" cy="0"/>
          </a:xfrm>
          <a:prstGeom prst="line">
            <a:avLst/>
          </a:prstGeom>
          <a:noFill/>
          <a:ln w="9525">
            <a:solidFill>
              <a:srgbClr val="E1E5EA"/>
            </a:solidFill>
            <a:prstDash val="solid"/>
          </a:ln>
        </p:spPr>
      </p:sp>
      <p:sp>
        <p:nvSpPr>
          <p:cNvPr id="18" name="Text 16"/>
          <p:cNvSpPr txBox="1"/>
          <p:nvPr/>
        </p:nvSpPr>
        <p:spPr>
          <a:xfrm>
            <a:off x="548640" y="3858768"/>
            <a:ext cx="2560320" cy="457200"/>
          </a:xfrm>
          <a:prstGeom prst="rect">
            <a:avLst/>
          </a:prstGeom>
          <a:noFill/>
          <a:ln/>
        </p:spPr>
        <p:txBody>
          <a:bodyPr wrap="square" lIns="0" tIns="0" rIns="0" bIns="0" rtlCol="0" anchor="ctr"/>
          <a:lstStyle/>
          <a:p>
            <a:pPr indent="0" marL="0">
              <a:buNone/>
            </a:pPr>
            <a:r>
              <a:rPr lang="en-US" sz="1400" b="1" dirty="0">
                <a:solidFill>
                  <a:srgbClr val="17418A"/>
                </a:solidFill>
              </a:rPr>
              <a:t>Consolidation</a:t>
            </a:r>
            <a:endParaRPr lang="en-US" sz="1400" dirty="0"/>
          </a:p>
        </p:txBody>
      </p:sp>
      <p:sp>
        <p:nvSpPr>
          <p:cNvPr id="19" name="Text 17"/>
          <p:cNvSpPr txBox="1"/>
          <p:nvPr/>
        </p:nvSpPr>
        <p:spPr>
          <a:xfrm>
            <a:off x="3429000" y="3858768"/>
            <a:ext cx="3749040" cy="457200"/>
          </a:xfrm>
          <a:prstGeom prst="rect">
            <a:avLst/>
          </a:prstGeom>
          <a:noFill/>
          <a:ln/>
        </p:spPr>
        <p:txBody>
          <a:bodyPr wrap="square" lIns="0" tIns="0" rIns="0" bIns="0" rtlCol="0" anchor="ctr"/>
          <a:lstStyle/>
          <a:p>
            <a:pPr indent="0" marL="0">
              <a:buNone/>
            </a:pPr>
            <a:r>
              <a:rPr lang="en-US" sz="1400" dirty="0">
                <a:solidFill>
                  <a:srgbClr val="5D6670"/>
                </a:solidFill>
              </a:rPr>
              <a:t>Ressaisie au central, en fin de mois</a:t>
            </a:r>
            <a:endParaRPr lang="en-US" sz="1400" dirty="0"/>
          </a:p>
        </p:txBody>
      </p:sp>
      <p:sp>
        <p:nvSpPr>
          <p:cNvPr id="20" name="Text 18"/>
          <p:cNvSpPr txBox="1"/>
          <p:nvPr/>
        </p:nvSpPr>
        <p:spPr>
          <a:xfrm>
            <a:off x="7635240" y="3858768"/>
            <a:ext cx="4023360" cy="457200"/>
          </a:xfrm>
          <a:prstGeom prst="rect">
            <a:avLst/>
          </a:prstGeom>
          <a:noFill/>
          <a:ln/>
        </p:spPr>
        <p:txBody>
          <a:bodyPr wrap="square" lIns="0" tIns="0" rIns="0" bIns="0" rtlCol="0" anchor="ctr"/>
          <a:lstStyle/>
          <a:p>
            <a:pPr indent="0" marL="0">
              <a:buNone/>
            </a:pPr>
            <a:r>
              <a:rPr lang="en-US" sz="1400" b="1" dirty="0">
                <a:solidFill>
                  <a:srgbClr val="323230"/>
                </a:solidFill>
              </a:rPr>
              <a:t>Automatique, dès la validation</a:t>
            </a:r>
            <a:endParaRPr lang="en-US" sz="1400" dirty="0"/>
          </a:p>
        </p:txBody>
      </p:sp>
      <p:sp>
        <p:nvSpPr>
          <p:cNvPr id="21" name="Shape 19"/>
          <p:cNvSpPr/>
          <p:nvPr/>
        </p:nvSpPr>
        <p:spPr>
          <a:xfrm>
            <a:off x="548640" y="3785616"/>
            <a:ext cx="11247120" cy="0"/>
          </a:xfrm>
          <a:prstGeom prst="line">
            <a:avLst/>
          </a:prstGeom>
          <a:noFill/>
          <a:ln w="9525">
            <a:solidFill>
              <a:srgbClr val="E1E5EA"/>
            </a:solidFill>
            <a:prstDash val="solid"/>
          </a:ln>
        </p:spPr>
      </p:sp>
      <p:sp>
        <p:nvSpPr>
          <p:cNvPr id="22" name="Text 20"/>
          <p:cNvSpPr txBox="1"/>
          <p:nvPr/>
        </p:nvSpPr>
        <p:spPr>
          <a:xfrm>
            <a:off x="548640" y="4462272"/>
            <a:ext cx="2560320" cy="457200"/>
          </a:xfrm>
          <a:prstGeom prst="rect">
            <a:avLst/>
          </a:prstGeom>
          <a:noFill/>
          <a:ln/>
        </p:spPr>
        <p:txBody>
          <a:bodyPr wrap="square" lIns="0" tIns="0" rIns="0" bIns="0" rtlCol="0" anchor="ctr"/>
          <a:lstStyle/>
          <a:p>
            <a:pPr indent="0" marL="0">
              <a:buNone/>
            </a:pPr>
            <a:r>
              <a:rPr lang="en-US" sz="1400" b="1" dirty="0">
                <a:solidFill>
                  <a:srgbClr val="17418A"/>
                </a:solidFill>
              </a:rPr>
              <a:t>Avances de fonds</a:t>
            </a:r>
            <a:endParaRPr lang="en-US" sz="1400" dirty="0"/>
          </a:p>
        </p:txBody>
      </p:sp>
      <p:sp>
        <p:nvSpPr>
          <p:cNvPr id="23" name="Text 21"/>
          <p:cNvSpPr txBox="1"/>
          <p:nvPr/>
        </p:nvSpPr>
        <p:spPr>
          <a:xfrm>
            <a:off x="3429000" y="4462272"/>
            <a:ext cx="3749040" cy="457200"/>
          </a:xfrm>
          <a:prstGeom prst="rect">
            <a:avLst/>
          </a:prstGeom>
          <a:noFill/>
          <a:ln/>
        </p:spPr>
        <p:txBody>
          <a:bodyPr wrap="square" lIns="0" tIns="0" rIns="0" bIns="0" rtlCol="0" anchor="ctr"/>
          <a:lstStyle/>
          <a:p>
            <a:pPr indent="0" marL="0">
              <a:buNone/>
            </a:pPr>
            <a:r>
              <a:rPr lang="en-US" sz="1400" dirty="0">
                <a:solidFill>
                  <a:srgbClr val="5D6670"/>
                </a:solidFill>
              </a:rPr>
              <a:t>Justification suivie à la main</a:t>
            </a:r>
            <a:endParaRPr lang="en-US" sz="1400" dirty="0"/>
          </a:p>
        </p:txBody>
      </p:sp>
      <p:sp>
        <p:nvSpPr>
          <p:cNvPr id="24" name="Text 22"/>
          <p:cNvSpPr txBox="1"/>
          <p:nvPr/>
        </p:nvSpPr>
        <p:spPr>
          <a:xfrm>
            <a:off x="7635240" y="4462272"/>
            <a:ext cx="4023360" cy="457200"/>
          </a:xfrm>
          <a:prstGeom prst="rect">
            <a:avLst/>
          </a:prstGeom>
          <a:noFill/>
          <a:ln/>
        </p:spPr>
        <p:txBody>
          <a:bodyPr wrap="square" lIns="0" tIns="0" rIns="0" bIns="0" rtlCol="0" anchor="ctr"/>
          <a:lstStyle/>
          <a:p>
            <a:pPr indent="0" marL="0">
              <a:buNone/>
            </a:pPr>
            <a:r>
              <a:rPr lang="en-US" sz="1400" b="1" dirty="0">
                <a:solidFill>
                  <a:srgbClr val="323230"/>
                </a:solidFill>
              </a:rPr>
              <a:t>Justification calculée ; nouvelle avance conditionnée</a:t>
            </a:r>
            <a:endParaRPr lang="en-US" sz="1400" dirty="0"/>
          </a:p>
        </p:txBody>
      </p:sp>
      <p:sp>
        <p:nvSpPr>
          <p:cNvPr id="25" name="Shape 23"/>
          <p:cNvSpPr/>
          <p:nvPr/>
        </p:nvSpPr>
        <p:spPr>
          <a:xfrm>
            <a:off x="548640" y="4389120"/>
            <a:ext cx="11247120" cy="0"/>
          </a:xfrm>
          <a:prstGeom prst="line">
            <a:avLst/>
          </a:prstGeom>
          <a:noFill/>
          <a:ln w="9525">
            <a:solidFill>
              <a:srgbClr val="E1E5EA"/>
            </a:solidFill>
            <a:prstDash val="solid"/>
          </a:ln>
        </p:spPr>
      </p:sp>
      <p:sp>
        <p:nvSpPr>
          <p:cNvPr id="26" name="Text 24"/>
          <p:cNvSpPr txBox="1"/>
          <p:nvPr/>
        </p:nvSpPr>
        <p:spPr>
          <a:xfrm>
            <a:off x="548640" y="5065776"/>
            <a:ext cx="2560320" cy="457200"/>
          </a:xfrm>
          <a:prstGeom prst="rect">
            <a:avLst/>
          </a:prstGeom>
          <a:noFill/>
          <a:ln/>
        </p:spPr>
        <p:txBody>
          <a:bodyPr wrap="square" lIns="0" tIns="0" rIns="0" bIns="0" rtlCol="0" anchor="ctr"/>
          <a:lstStyle/>
          <a:p>
            <a:pPr indent="0" marL="0">
              <a:buNone/>
            </a:pPr>
            <a:r>
              <a:rPr lang="en-US" sz="1400" b="1" dirty="0">
                <a:solidFill>
                  <a:srgbClr val="17418A"/>
                </a:solidFill>
              </a:rPr>
              <a:t>Rapports officiels</a:t>
            </a:r>
            <a:endParaRPr lang="en-US" sz="1400" dirty="0"/>
          </a:p>
        </p:txBody>
      </p:sp>
      <p:sp>
        <p:nvSpPr>
          <p:cNvPr id="27" name="Text 25"/>
          <p:cNvSpPr txBox="1"/>
          <p:nvPr/>
        </p:nvSpPr>
        <p:spPr>
          <a:xfrm>
            <a:off x="3429000" y="5065776"/>
            <a:ext cx="3749040" cy="457200"/>
          </a:xfrm>
          <a:prstGeom prst="rect">
            <a:avLst/>
          </a:prstGeom>
          <a:noFill/>
          <a:ln/>
        </p:spPr>
        <p:txBody>
          <a:bodyPr wrap="square" lIns="0" tIns="0" rIns="0" bIns="0" rtlCol="0" anchor="ctr"/>
          <a:lstStyle/>
          <a:p>
            <a:pPr indent="0" marL="0">
              <a:buNone/>
            </a:pPr>
            <a:r>
              <a:rPr lang="en-US" sz="1400" dirty="0">
                <a:solidFill>
                  <a:srgbClr val="5D6670"/>
                </a:solidFill>
              </a:rPr>
              <a:t>Rédigés et recopiés</a:t>
            </a:r>
            <a:endParaRPr lang="en-US" sz="1400" dirty="0"/>
          </a:p>
        </p:txBody>
      </p:sp>
      <p:sp>
        <p:nvSpPr>
          <p:cNvPr id="28" name="Text 26"/>
          <p:cNvSpPr txBox="1"/>
          <p:nvPr/>
        </p:nvSpPr>
        <p:spPr>
          <a:xfrm>
            <a:off x="7635240" y="5065776"/>
            <a:ext cx="4023360" cy="457200"/>
          </a:xfrm>
          <a:prstGeom prst="rect">
            <a:avLst/>
          </a:prstGeom>
          <a:noFill/>
          <a:ln/>
        </p:spPr>
        <p:txBody>
          <a:bodyPr wrap="square" lIns="0" tIns="0" rIns="0" bIns="0" rtlCol="0" anchor="ctr"/>
          <a:lstStyle/>
          <a:p>
            <a:pPr indent="0" marL="0">
              <a:buNone/>
            </a:pPr>
            <a:r>
              <a:rPr lang="en-US" sz="1400" b="1" dirty="0">
                <a:solidFill>
                  <a:srgbClr val="323230"/>
                </a:solidFill>
              </a:rPr>
              <a:t>Émis en un clic, authentifiés par code QR</a:t>
            </a:r>
            <a:endParaRPr lang="en-US" sz="1400" dirty="0"/>
          </a:p>
        </p:txBody>
      </p:sp>
      <p:sp>
        <p:nvSpPr>
          <p:cNvPr id="29" name="Shape 27"/>
          <p:cNvSpPr/>
          <p:nvPr/>
        </p:nvSpPr>
        <p:spPr>
          <a:xfrm>
            <a:off x="548640" y="4992624"/>
            <a:ext cx="11247120" cy="0"/>
          </a:xfrm>
          <a:prstGeom prst="line">
            <a:avLst/>
          </a:prstGeom>
          <a:noFill/>
          <a:ln w="9525">
            <a:solidFill>
              <a:srgbClr val="E1E5EA"/>
            </a:solidFill>
            <a:prstDash val="solid"/>
          </a:ln>
        </p:spPr>
      </p:sp>
      <p:sp>
        <p:nvSpPr>
          <p:cNvPr id="30" name="Text 28"/>
          <p:cNvSpPr txBox="1"/>
          <p:nvPr/>
        </p:nvSpPr>
        <p:spPr>
          <a:xfrm>
            <a:off x="548640" y="5669280"/>
            <a:ext cx="2560320" cy="457200"/>
          </a:xfrm>
          <a:prstGeom prst="rect">
            <a:avLst/>
          </a:prstGeom>
          <a:noFill/>
          <a:ln/>
        </p:spPr>
        <p:txBody>
          <a:bodyPr wrap="square" lIns="0" tIns="0" rIns="0" bIns="0" rtlCol="0" anchor="ctr"/>
          <a:lstStyle/>
          <a:p>
            <a:pPr indent="0" marL="0">
              <a:buNone/>
            </a:pPr>
            <a:r>
              <a:rPr lang="en-US" sz="1400" b="1" dirty="0">
                <a:solidFill>
                  <a:srgbClr val="17418A"/>
                </a:solidFill>
              </a:rPr>
              <a:t>Traçabilité</a:t>
            </a:r>
            <a:endParaRPr lang="en-US" sz="1400" dirty="0"/>
          </a:p>
        </p:txBody>
      </p:sp>
      <p:sp>
        <p:nvSpPr>
          <p:cNvPr id="31" name="Text 29"/>
          <p:cNvSpPr txBox="1"/>
          <p:nvPr/>
        </p:nvSpPr>
        <p:spPr>
          <a:xfrm>
            <a:off x="3429000" y="5669280"/>
            <a:ext cx="3749040" cy="457200"/>
          </a:xfrm>
          <a:prstGeom prst="rect">
            <a:avLst/>
          </a:prstGeom>
          <a:noFill/>
          <a:ln/>
        </p:spPr>
        <p:txBody>
          <a:bodyPr wrap="square" lIns="0" tIns="0" rIns="0" bIns="0" rtlCol="0" anchor="ctr"/>
          <a:lstStyle/>
          <a:p>
            <a:pPr indent="0" marL="0">
              <a:buNone/>
            </a:pPr>
            <a:r>
              <a:rPr lang="en-US" sz="1400" dirty="0">
                <a:solidFill>
                  <a:srgbClr val="5D6670"/>
                </a:solidFill>
              </a:rPr>
              <a:t>Difficile à démontrer</a:t>
            </a:r>
            <a:endParaRPr lang="en-US" sz="1400" dirty="0"/>
          </a:p>
        </p:txBody>
      </p:sp>
      <p:sp>
        <p:nvSpPr>
          <p:cNvPr id="32" name="Text 30"/>
          <p:cNvSpPr txBox="1"/>
          <p:nvPr/>
        </p:nvSpPr>
        <p:spPr>
          <a:xfrm>
            <a:off x="7635240" y="5669280"/>
            <a:ext cx="4023360" cy="457200"/>
          </a:xfrm>
          <a:prstGeom prst="rect">
            <a:avLst/>
          </a:prstGeom>
          <a:noFill/>
          <a:ln/>
        </p:spPr>
        <p:txBody>
          <a:bodyPr wrap="square" lIns="0" tIns="0" rIns="0" bIns="0" rtlCol="0" anchor="ctr"/>
          <a:lstStyle/>
          <a:p>
            <a:pPr indent="0" marL="0">
              <a:buNone/>
            </a:pPr>
            <a:r>
              <a:rPr lang="en-US" sz="1400" b="1" dirty="0">
                <a:solidFill>
                  <a:srgbClr val="323230"/>
                </a:solidFill>
              </a:rPr>
              <a:t>Journal d’audit infalsifiable de chaque action</a:t>
            </a:r>
            <a:endParaRPr lang="en-US" sz="1400" dirty="0"/>
          </a:p>
        </p:txBody>
      </p:sp>
      <p:sp>
        <p:nvSpPr>
          <p:cNvPr id="33" name="Shape 31"/>
          <p:cNvSpPr/>
          <p:nvPr/>
        </p:nvSpPr>
        <p:spPr>
          <a:xfrm>
            <a:off x="548640" y="5596128"/>
            <a:ext cx="11247120" cy="0"/>
          </a:xfrm>
          <a:prstGeom prst="line">
            <a:avLst/>
          </a:prstGeom>
          <a:noFill/>
          <a:ln w="9525">
            <a:solidFill>
              <a:srgbClr val="E1E5EA"/>
            </a:solidFill>
            <a:prstDash val="solid"/>
          </a:ln>
        </p:spPr>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Une seule application pour tous les services de l’Inspection</a:t>
            </a:r>
            <a:endParaRPr lang="en-US" sz="3000" dirty="0"/>
          </a:p>
        </p:txBody>
      </p:sp>
      <p:sp>
        <p:nvSpPr>
          <p:cNvPr id="3" name="cadre af-tableau-de-bord.jpg"/>
          <p:cNvSpPr/>
          <p:nvPr/>
        </p:nvSpPr>
        <p:spPr>
          <a:xfrm>
            <a:off x="512064" y="1335024"/>
            <a:ext cx="7022592" cy="4414508"/>
          </a:xfrm>
          <a:prstGeom prst="rect">
            <a:avLst/>
          </a:prstGeom>
          <a:solidFill>
            <a:srgbClr val="FFFFFF"/>
          </a:solidFill>
          <a:ln w="9525">
            <a:solidFill>
              <a:srgbClr val="E1E5EA"/>
            </a:solidFill>
            <a:prstDash val="solid"/>
          </a:ln>
          <a:effectLst>
            <a:outerShdw sx="100000" sy="100000" kx="0" ky="0" algn="bl" rotWithShape="0" blurRad="101600" dist="38100" dir="5400000">
              <a:srgbClr val="17418A">
                <a:alpha val="18000"/>
              </a:srgbClr>
            </a:outerShdw>
          </a:effectLst>
        </p:spPr>
      </p:sp>
      <p:pic>
        <p:nvPicPr>
          <p:cNvPr id="4" name="capture af-tableau-de-bord.jpg" descr="Tableau de bord d’Administration et Finance">    </p:cNvPr>
          <p:cNvPicPr>
            <a:picLocks noChangeAspect="1"/>
          </p:cNvPicPr>
          <p:nvPr/>
        </p:nvPicPr>
        <p:blipFill>
          <a:blip r:embed="rId1"/>
          <a:stretch>
            <a:fillRect/>
          </a:stretch>
        </p:blipFill>
        <p:spPr>
          <a:xfrm>
            <a:off x="548640" y="1371600"/>
            <a:ext cx="6949440" cy="4341356"/>
          </a:xfrm>
          <a:prstGeom prst="rect">
            <a:avLst/>
          </a:prstGeom>
        </p:spPr>
      </p:pic>
      <p:sp>
        <p:nvSpPr>
          <p:cNvPr id="5" name="Shape 2"/>
          <p:cNvSpPr/>
          <p:nvPr/>
        </p:nvSpPr>
        <p:spPr>
          <a:xfrm>
            <a:off x="8001000" y="1417320"/>
            <a:ext cx="384048" cy="384048"/>
          </a:xfrm>
          <a:prstGeom prst="ellipse">
            <a:avLst/>
          </a:prstGeom>
          <a:solidFill>
            <a:srgbClr val="0095C9"/>
          </a:solidFill>
          <a:ln/>
        </p:spPr>
      </p:sp>
      <p:sp>
        <p:nvSpPr>
          <p:cNvPr id="6" name="Text 3"/>
          <p:cNvSpPr txBox="1"/>
          <p:nvPr/>
        </p:nvSpPr>
        <p:spPr>
          <a:xfrm>
            <a:off x="800100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8549640" y="1371600"/>
            <a:ext cx="3108960" cy="365760"/>
          </a:xfrm>
          <a:prstGeom prst="rect">
            <a:avLst/>
          </a:prstGeom>
          <a:noFill/>
          <a:ln/>
        </p:spPr>
        <p:txBody>
          <a:bodyPr wrap="square" lIns="0" tIns="0" rIns="0" bIns="0" rtlCol="0" anchor="t"/>
          <a:lstStyle/>
          <a:p>
            <a:pPr indent="0" marL="0">
              <a:buNone/>
            </a:pPr>
            <a:r>
              <a:rPr lang="en-US" sz="1600" b="1" dirty="0">
                <a:solidFill>
                  <a:srgbClr val="17418A"/>
                </a:solidFill>
              </a:rPr>
              <a:t>Une base unique</a:t>
            </a:r>
            <a:endParaRPr lang="en-US" sz="1600" dirty="0"/>
          </a:p>
        </p:txBody>
      </p:sp>
      <p:sp>
        <p:nvSpPr>
          <p:cNvPr id="8" name="Text 5"/>
          <p:cNvSpPr txBox="1"/>
          <p:nvPr/>
        </p:nvSpPr>
        <p:spPr>
          <a:xfrm>
            <a:off x="8549640" y="1755648"/>
            <a:ext cx="3108960" cy="731520"/>
          </a:xfrm>
          <a:prstGeom prst="rect">
            <a:avLst/>
          </a:prstGeom>
          <a:noFill/>
          <a:ln/>
        </p:spPr>
        <p:txBody>
          <a:bodyPr wrap="square" lIns="0" tIns="0" rIns="0" bIns="0" rtlCol="0" anchor="t"/>
          <a:lstStyle/>
          <a:p>
            <a:pPr indent="0" marL="0">
              <a:buNone/>
            </a:pPr>
            <a:r>
              <a:rPr lang="en-US" sz="1250" dirty="0">
                <a:solidFill>
                  <a:srgbClr val="323230"/>
                </a:solidFill>
              </a:rPr>
              <a:t>Bureaux centraux, cellules et inspections provinciales travaillent dans la même application, en ligne.</a:t>
            </a:r>
            <a:endParaRPr lang="en-US" sz="1250" dirty="0"/>
          </a:p>
        </p:txBody>
      </p:sp>
      <p:sp>
        <p:nvSpPr>
          <p:cNvPr id="9" name="Shape 6"/>
          <p:cNvSpPr/>
          <p:nvPr/>
        </p:nvSpPr>
        <p:spPr>
          <a:xfrm>
            <a:off x="8001000" y="2587752"/>
            <a:ext cx="384048" cy="384048"/>
          </a:xfrm>
          <a:prstGeom prst="ellipse">
            <a:avLst/>
          </a:prstGeom>
          <a:solidFill>
            <a:srgbClr val="0095C9"/>
          </a:solidFill>
          <a:ln/>
        </p:spPr>
      </p:sp>
      <p:sp>
        <p:nvSpPr>
          <p:cNvPr id="10" name="Text 7"/>
          <p:cNvSpPr txBox="1"/>
          <p:nvPr/>
        </p:nvSpPr>
        <p:spPr>
          <a:xfrm>
            <a:off x="8001000" y="2587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549640" y="2542032"/>
            <a:ext cx="3108960" cy="365760"/>
          </a:xfrm>
          <a:prstGeom prst="rect">
            <a:avLst/>
          </a:prstGeom>
          <a:noFill/>
          <a:ln/>
        </p:spPr>
        <p:txBody>
          <a:bodyPr wrap="square" lIns="0" tIns="0" rIns="0" bIns="0" rtlCol="0" anchor="t"/>
          <a:lstStyle/>
          <a:p>
            <a:pPr indent="0" marL="0">
              <a:buNone/>
            </a:pPr>
            <a:r>
              <a:rPr lang="en-US" sz="1600" b="1" dirty="0">
                <a:solidFill>
                  <a:srgbClr val="17418A"/>
                </a:solidFill>
              </a:rPr>
              <a:t>Chacun son rôle</a:t>
            </a:r>
            <a:endParaRPr lang="en-US" sz="1600" dirty="0"/>
          </a:p>
        </p:txBody>
      </p:sp>
      <p:sp>
        <p:nvSpPr>
          <p:cNvPr id="12" name="Text 9"/>
          <p:cNvSpPr txBox="1"/>
          <p:nvPr/>
        </p:nvSpPr>
        <p:spPr>
          <a:xfrm>
            <a:off x="8549640" y="2926080"/>
            <a:ext cx="3108960" cy="731520"/>
          </a:xfrm>
          <a:prstGeom prst="rect">
            <a:avLst/>
          </a:prstGeom>
          <a:noFill/>
          <a:ln/>
        </p:spPr>
        <p:txBody>
          <a:bodyPr wrap="square" lIns="0" tIns="0" rIns="0" bIns="0" rtlCol="0" anchor="t"/>
          <a:lstStyle/>
          <a:p>
            <a:pPr indent="0" marL="0">
              <a:buNone/>
            </a:pPr>
            <a:r>
              <a:rPr lang="en-US" sz="1250" dirty="0">
                <a:solidFill>
                  <a:srgbClr val="323230"/>
                </a:solidFill>
              </a:rPr>
              <a:t>Agent, Responsable, Administration et Finance, Direction : chacun voit et fait ce que son profil autorise.</a:t>
            </a:r>
            <a:endParaRPr lang="en-US" sz="1250" dirty="0"/>
          </a:p>
        </p:txBody>
      </p:sp>
      <p:sp>
        <p:nvSpPr>
          <p:cNvPr id="13" name="Shape 10"/>
          <p:cNvSpPr/>
          <p:nvPr/>
        </p:nvSpPr>
        <p:spPr>
          <a:xfrm>
            <a:off x="8001000" y="3758184"/>
            <a:ext cx="384048" cy="384048"/>
          </a:xfrm>
          <a:prstGeom prst="ellipse">
            <a:avLst/>
          </a:prstGeom>
          <a:solidFill>
            <a:srgbClr val="0095C9"/>
          </a:solidFill>
          <a:ln/>
        </p:spPr>
      </p:sp>
      <p:sp>
        <p:nvSpPr>
          <p:cNvPr id="14" name="Text 11"/>
          <p:cNvSpPr txBox="1"/>
          <p:nvPr/>
        </p:nvSpPr>
        <p:spPr>
          <a:xfrm>
            <a:off x="8001000" y="3758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8549640" y="3712464"/>
            <a:ext cx="3108960" cy="365760"/>
          </a:xfrm>
          <a:prstGeom prst="rect">
            <a:avLst/>
          </a:prstGeom>
          <a:noFill/>
          <a:ln/>
        </p:spPr>
        <p:txBody>
          <a:bodyPr wrap="square" lIns="0" tIns="0" rIns="0" bIns="0" rtlCol="0" anchor="t"/>
          <a:lstStyle/>
          <a:p>
            <a:pPr indent="0" marL="0">
              <a:buNone/>
            </a:pPr>
            <a:r>
              <a:rPr lang="en-US" sz="1600" b="1" dirty="0">
                <a:solidFill>
                  <a:srgbClr val="17418A"/>
                </a:solidFill>
              </a:rPr>
              <a:t>Les chiffres du jour</a:t>
            </a:r>
            <a:endParaRPr lang="en-US" sz="1600" dirty="0"/>
          </a:p>
        </p:txBody>
      </p:sp>
      <p:sp>
        <p:nvSpPr>
          <p:cNvPr id="16" name="Text 13"/>
          <p:cNvSpPr txBox="1"/>
          <p:nvPr/>
        </p:nvSpPr>
        <p:spPr>
          <a:xfrm>
            <a:off x="8549640" y="4096512"/>
            <a:ext cx="3108960" cy="731520"/>
          </a:xfrm>
          <a:prstGeom prst="rect">
            <a:avLst/>
          </a:prstGeom>
          <a:noFill/>
          <a:ln/>
        </p:spPr>
        <p:txBody>
          <a:bodyPr wrap="square" lIns="0" tIns="0" rIns="0" bIns="0" rtlCol="0" anchor="t"/>
          <a:lstStyle/>
          <a:p>
            <a:pPr indent="0" marL="0">
              <a:buNone/>
            </a:pPr>
            <a:r>
              <a:rPr lang="en-US" sz="1250" dirty="0">
                <a:solidFill>
                  <a:srgbClr val="323230"/>
                </a:solidFill>
              </a:rPr>
              <a:t>Budget, caisses, avances et alertes se mettent à jour à chaque validation.</a:t>
            </a:r>
            <a:endParaRPr lang="en-US" sz="1250" dirty="0"/>
          </a:p>
        </p:txBody>
      </p:sp>
      <p:sp>
        <p:nvSpPr>
          <p:cNvPr id="17" name="Shape 14"/>
          <p:cNvSpPr/>
          <p:nvPr/>
        </p:nvSpPr>
        <p:spPr>
          <a:xfrm>
            <a:off x="8001000" y="4928616"/>
            <a:ext cx="384048" cy="384048"/>
          </a:xfrm>
          <a:prstGeom prst="ellipse">
            <a:avLst/>
          </a:prstGeom>
          <a:solidFill>
            <a:srgbClr val="0095C9"/>
          </a:solidFill>
          <a:ln/>
        </p:spPr>
      </p:sp>
      <p:sp>
        <p:nvSpPr>
          <p:cNvPr id="18" name="Text 15"/>
          <p:cNvSpPr txBox="1"/>
          <p:nvPr/>
        </p:nvSpPr>
        <p:spPr>
          <a:xfrm>
            <a:off x="8001000" y="49286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8549640" y="4882896"/>
            <a:ext cx="3108960" cy="365760"/>
          </a:xfrm>
          <a:prstGeom prst="rect">
            <a:avLst/>
          </a:prstGeom>
          <a:noFill/>
          <a:ln/>
        </p:spPr>
        <p:txBody>
          <a:bodyPr wrap="square" lIns="0" tIns="0" rIns="0" bIns="0" rtlCol="0" anchor="t"/>
          <a:lstStyle/>
          <a:p>
            <a:pPr indent="0" marL="0">
              <a:buNone/>
            </a:pPr>
            <a:r>
              <a:rPr lang="en-US" sz="1600" b="1" dirty="0">
                <a:solidFill>
                  <a:srgbClr val="17418A"/>
                </a:solidFill>
              </a:rPr>
              <a:t>Aux couleurs de l’Inspection</a:t>
            </a:r>
            <a:endParaRPr lang="en-US" sz="1600" dirty="0"/>
          </a:p>
        </p:txBody>
      </p:sp>
      <p:sp>
        <p:nvSpPr>
          <p:cNvPr id="20" name="Text 17"/>
          <p:cNvSpPr txBox="1"/>
          <p:nvPr/>
        </p:nvSpPr>
        <p:spPr>
          <a:xfrm>
            <a:off x="8549640" y="5266944"/>
            <a:ext cx="3108960" cy="731520"/>
          </a:xfrm>
          <a:prstGeom prst="rect">
            <a:avLst/>
          </a:prstGeom>
          <a:noFill/>
          <a:ln/>
        </p:spPr>
        <p:txBody>
          <a:bodyPr wrap="square" lIns="0" tIns="0" rIns="0" bIns="0" rtlCol="0" anchor="t"/>
          <a:lstStyle/>
          <a:p>
            <a:pPr indent="0" marL="0">
              <a:buNone/>
            </a:pPr>
            <a:r>
              <a:rPr lang="en-US" sz="1250" dirty="0">
                <a:solidFill>
                  <a:srgbClr val="323230"/>
                </a:solidFill>
              </a:rPr>
              <a:t>Charte graphique officielle, documents au format de l’administration.</a:t>
            </a:r>
            <a:endParaRPr lang="en-US" sz="125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Le circuit d’une dépense, de la caisse au rapport</a:t>
            </a:r>
            <a:endParaRPr lang="en-US" sz="3000" dirty="0"/>
          </a:p>
        </p:txBody>
      </p:sp>
      <p:sp>
        <p:nvSpPr>
          <p:cNvPr id="3" name="étape Saisie"/>
          <p:cNvSpPr/>
          <p:nvPr/>
        </p:nvSpPr>
        <p:spPr>
          <a:xfrm>
            <a:off x="548640" y="1417320"/>
            <a:ext cx="2011680" cy="4526280"/>
          </a:xfrm>
          <a:prstGeom prst="rect">
            <a:avLst/>
          </a:prstGeom>
          <a:solidFill>
            <a:srgbClr val="F3F5F8"/>
          </a:solidFill>
          <a:ln/>
        </p:spPr>
      </p:sp>
      <p:sp>
        <p:nvSpPr>
          <p:cNvPr id="4" name="Shape 2"/>
          <p:cNvSpPr/>
          <p:nvPr/>
        </p:nvSpPr>
        <p:spPr>
          <a:xfrm>
            <a:off x="685800" y="1572768"/>
            <a:ext cx="438912" cy="438912"/>
          </a:xfrm>
          <a:prstGeom prst="ellipse">
            <a:avLst/>
          </a:prstGeom>
          <a:solidFill>
            <a:srgbClr val="17418A"/>
          </a:solidFill>
          <a:ln/>
        </p:spPr>
      </p:sp>
      <p:sp>
        <p:nvSpPr>
          <p:cNvPr id="5" name="Text 3"/>
          <p:cNvSpPr txBox="1"/>
          <p:nvPr/>
        </p:nvSpPr>
        <p:spPr>
          <a:xfrm>
            <a:off x="685800" y="15727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207008" y="1572768"/>
            <a:ext cx="1280160" cy="438912"/>
          </a:xfrm>
          <a:prstGeom prst="rect">
            <a:avLst/>
          </a:prstGeom>
          <a:noFill/>
          <a:ln/>
        </p:spPr>
        <p:txBody>
          <a:bodyPr wrap="square" lIns="0" tIns="0" rIns="0" bIns="0" rtlCol="0" anchor="ctr"/>
          <a:lstStyle/>
          <a:p>
            <a:pPr indent="0" marL="0">
              <a:buNone/>
            </a:pPr>
            <a:r>
              <a:rPr lang="en-US" sz="1500" b="1" dirty="0">
                <a:solidFill>
                  <a:srgbClr val="17418A"/>
                </a:solidFill>
              </a:rPr>
              <a:t>Saisie</a:t>
            </a:r>
            <a:endParaRPr lang="en-US" sz="1500" dirty="0"/>
          </a:p>
        </p:txBody>
      </p:sp>
      <p:sp>
        <p:nvSpPr>
          <p:cNvPr id="7" name="Text 5"/>
          <p:cNvSpPr txBox="1"/>
          <p:nvPr/>
        </p:nvSpPr>
        <p:spPr>
          <a:xfrm>
            <a:off x="685800" y="2121408"/>
            <a:ext cx="1737360" cy="868680"/>
          </a:xfrm>
          <a:prstGeom prst="rect">
            <a:avLst/>
          </a:prstGeom>
          <a:noFill/>
          <a:ln/>
        </p:spPr>
        <p:txBody>
          <a:bodyPr wrap="square" lIns="0" tIns="0" rIns="0" bIns="0" rtlCol="0" anchor="t"/>
          <a:lstStyle/>
          <a:p>
            <a:pPr indent="0" marL="0">
              <a:buNone/>
            </a:pPr>
            <a:r>
              <a:rPr lang="en-US" sz="1200" dirty="0">
                <a:solidFill>
                  <a:srgbClr val="323230"/>
                </a:solidFill>
              </a:rPr>
              <a:t>L’agent saisit la dépense et photographie la pièce</a:t>
            </a:r>
            <a:endParaRPr lang="en-US" sz="1200" dirty="0"/>
          </a:p>
        </p:txBody>
      </p:sp>
      <p:pic>
        <p:nvPicPr>
          <p:cNvPr id="8" name="Image 0" descr="Saisie">    </p:cNvPr>
          <p:cNvPicPr>
            <a:picLocks noChangeAspect="1"/>
          </p:cNvPicPr>
          <p:nvPr/>
        </p:nvPicPr>
        <p:blipFill>
          <a:blip r:embed="rId1"/>
          <a:srcRect l="0" r="0" t="0" b="0"/>
          <a:stretch/>
        </p:blipFill>
        <p:spPr>
          <a:xfrm>
            <a:off x="910121" y="3017520"/>
            <a:ext cx="1288719" cy="2788920"/>
          </a:xfrm>
          <a:prstGeom prst="rect">
            <a:avLst/>
          </a:prstGeom>
        </p:spPr>
      </p:pic>
      <p:sp>
        <p:nvSpPr>
          <p:cNvPr id="9" name="Text 6"/>
          <p:cNvSpPr txBox="1"/>
          <p:nvPr/>
        </p:nvSpPr>
        <p:spPr>
          <a:xfrm>
            <a:off x="2560320" y="3291840"/>
            <a:ext cx="274320" cy="548640"/>
          </a:xfrm>
          <a:prstGeom prst="rect">
            <a:avLst/>
          </a:prstGeom>
          <a:noFill/>
          <a:ln/>
        </p:spPr>
        <p:txBody>
          <a:bodyPr wrap="square" lIns="0" tIns="0" rIns="0" bIns="0" rtlCol="0" anchor="t"/>
          <a:lstStyle/>
          <a:p>
            <a:pPr algn="ctr" indent="0" marL="0">
              <a:buNone/>
            </a:pPr>
            <a:r>
              <a:rPr lang="en-US" sz="3000" b="1" dirty="0">
                <a:solidFill>
                  <a:srgbClr val="0095C9"/>
                </a:solidFill>
              </a:rPr>
              <a:t>›</a:t>
            </a:r>
            <a:endParaRPr lang="en-US" sz="3000" dirty="0"/>
          </a:p>
        </p:txBody>
      </p:sp>
      <p:sp>
        <p:nvSpPr>
          <p:cNvPr id="10" name="étape Transmission"/>
          <p:cNvSpPr/>
          <p:nvPr/>
        </p:nvSpPr>
        <p:spPr>
          <a:xfrm>
            <a:off x="2834640" y="1417320"/>
            <a:ext cx="2011680" cy="4526280"/>
          </a:xfrm>
          <a:prstGeom prst="rect">
            <a:avLst/>
          </a:prstGeom>
          <a:solidFill>
            <a:srgbClr val="F3F5F8"/>
          </a:solidFill>
          <a:ln/>
        </p:spPr>
      </p:sp>
      <p:sp>
        <p:nvSpPr>
          <p:cNvPr id="11" name="Shape 8"/>
          <p:cNvSpPr/>
          <p:nvPr/>
        </p:nvSpPr>
        <p:spPr>
          <a:xfrm>
            <a:off x="2971800" y="1572768"/>
            <a:ext cx="438912" cy="438912"/>
          </a:xfrm>
          <a:prstGeom prst="ellipse">
            <a:avLst/>
          </a:prstGeom>
          <a:solidFill>
            <a:srgbClr val="17418A"/>
          </a:solidFill>
          <a:ln/>
        </p:spPr>
      </p:sp>
      <p:sp>
        <p:nvSpPr>
          <p:cNvPr id="12" name="Text 9"/>
          <p:cNvSpPr txBox="1"/>
          <p:nvPr/>
        </p:nvSpPr>
        <p:spPr>
          <a:xfrm>
            <a:off x="2971800" y="15727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3493008" y="1572768"/>
            <a:ext cx="1280160" cy="438912"/>
          </a:xfrm>
          <a:prstGeom prst="rect">
            <a:avLst/>
          </a:prstGeom>
          <a:noFill/>
          <a:ln/>
        </p:spPr>
        <p:txBody>
          <a:bodyPr wrap="square" lIns="0" tIns="0" rIns="0" bIns="0" rtlCol="0" anchor="ctr"/>
          <a:lstStyle/>
          <a:p>
            <a:pPr indent="0" marL="0">
              <a:buNone/>
            </a:pPr>
            <a:r>
              <a:rPr lang="en-US" sz="1500" b="1" dirty="0">
                <a:solidFill>
                  <a:srgbClr val="17418A"/>
                </a:solidFill>
              </a:rPr>
              <a:t>Transmission</a:t>
            </a:r>
            <a:endParaRPr lang="en-US" sz="1500" dirty="0"/>
          </a:p>
        </p:txBody>
      </p:sp>
      <p:sp>
        <p:nvSpPr>
          <p:cNvPr id="14" name="Text 11"/>
          <p:cNvSpPr txBox="1"/>
          <p:nvPr/>
        </p:nvSpPr>
        <p:spPr>
          <a:xfrm>
            <a:off x="2971800" y="2121408"/>
            <a:ext cx="1737360" cy="868680"/>
          </a:xfrm>
          <a:prstGeom prst="rect">
            <a:avLst/>
          </a:prstGeom>
          <a:noFill/>
          <a:ln/>
        </p:spPr>
        <p:txBody>
          <a:bodyPr wrap="square" lIns="0" tIns="0" rIns="0" bIns="0" rtlCol="0" anchor="t"/>
          <a:lstStyle/>
          <a:p>
            <a:pPr indent="0" marL="0">
              <a:buNone/>
            </a:pPr>
            <a:r>
              <a:rPr lang="en-US" sz="1200" dirty="0">
                <a:solidFill>
                  <a:srgbClr val="323230"/>
                </a:solidFill>
              </a:rPr>
              <a:t>Le service envoie ses écritures au central par lot</a:t>
            </a:r>
            <a:endParaRPr lang="en-US" sz="1200" dirty="0"/>
          </a:p>
        </p:txBody>
      </p:sp>
      <p:pic>
        <p:nvPicPr>
          <p:cNvPr id="15" name="Image 1" descr="Transmission">    </p:cNvPr>
          <p:cNvPicPr>
            <a:picLocks noChangeAspect="1"/>
          </p:cNvPicPr>
          <p:nvPr/>
        </p:nvPicPr>
        <p:blipFill>
          <a:blip r:embed="rId2"/>
          <a:srcRect l="0" r="0" t="0" b="0"/>
          <a:stretch/>
        </p:blipFill>
        <p:spPr>
          <a:xfrm>
            <a:off x="2971800" y="3017520"/>
            <a:ext cx="1737360" cy="2788920"/>
          </a:xfrm>
          <a:prstGeom prst="rect">
            <a:avLst/>
          </a:prstGeom>
        </p:spPr>
      </p:pic>
      <p:sp>
        <p:nvSpPr>
          <p:cNvPr id="16" name="Text 12"/>
          <p:cNvSpPr txBox="1"/>
          <p:nvPr/>
        </p:nvSpPr>
        <p:spPr>
          <a:xfrm>
            <a:off x="4846320" y="3291840"/>
            <a:ext cx="274320" cy="548640"/>
          </a:xfrm>
          <a:prstGeom prst="rect">
            <a:avLst/>
          </a:prstGeom>
          <a:noFill/>
          <a:ln/>
        </p:spPr>
        <p:txBody>
          <a:bodyPr wrap="square" lIns="0" tIns="0" rIns="0" bIns="0" rtlCol="0" anchor="t"/>
          <a:lstStyle/>
          <a:p>
            <a:pPr algn="ctr" indent="0" marL="0">
              <a:buNone/>
            </a:pPr>
            <a:r>
              <a:rPr lang="en-US" sz="3000" b="1" dirty="0">
                <a:solidFill>
                  <a:srgbClr val="0095C9"/>
                </a:solidFill>
              </a:rPr>
              <a:t>›</a:t>
            </a:r>
            <a:endParaRPr lang="en-US" sz="3000" dirty="0"/>
          </a:p>
        </p:txBody>
      </p:sp>
      <p:sp>
        <p:nvSpPr>
          <p:cNvPr id="17" name="étape Vérification"/>
          <p:cNvSpPr/>
          <p:nvPr/>
        </p:nvSpPr>
        <p:spPr>
          <a:xfrm>
            <a:off x="5120640" y="1417320"/>
            <a:ext cx="2011680" cy="4526280"/>
          </a:xfrm>
          <a:prstGeom prst="rect">
            <a:avLst/>
          </a:prstGeom>
          <a:solidFill>
            <a:srgbClr val="F3F5F8"/>
          </a:solidFill>
          <a:ln/>
        </p:spPr>
      </p:sp>
      <p:sp>
        <p:nvSpPr>
          <p:cNvPr id="18" name="Shape 14"/>
          <p:cNvSpPr/>
          <p:nvPr/>
        </p:nvSpPr>
        <p:spPr>
          <a:xfrm>
            <a:off x="5257800" y="1572768"/>
            <a:ext cx="438912" cy="438912"/>
          </a:xfrm>
          <a:prstGeom prst="ellipse">
            <a:avLst/>
          </a:prstGeom>
          <a:solidFill>
            <a:srgbClr val="17418A"/>
          </a:solidFill>
          <a:ln/>
        </p:spPr>
      </p:sp>
      <p:sp>
        <p:nvSpPr>
          <p:cNvPr id="19" name="Text 15"/>
          <p:cNvSpPr txBox="1"/>
          <p:nvPr/>
        </p:nvSpPr>
        <p:spPr>
          <a:xfrm>
            <a:off x="5257800" y="15727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0" name="Text 16"/>
          <p:cNvSpPr txBox="1"/>
          <p:nvPr/>
        </p:nvSpPr>
        <p:spPr>
          <a:xfrm>
            <a:off x="5779008" y="1572768"/>
            <a:ext cx="1280160" cy="438912"/>
          </a:xfrm>
          <a:prstGeom prst="rect">
            <a:avLst/>
          </a:prstGeom>
          <a:noFill/>
          <a:ln/>
        </p:spPr>
        <p:txBody>
          <a:bodyPr wrap="square" lIns="0" tIns="0" rIns="0" bIns="0" rtlCol="0" anchor="ctr"/>
          <a:lstStyle/>
          <a:p>
            <a:pPr indent="0" marL="0">
              <a:buNone/>
            </a:pPr>
            <a:r>
              <a:rPr lang="en-US" sz="1500" b="1" dirty="0">
                <a:solidFill>
                  <a:srgbClr val="17418A"/>
                </a:solidFill>
              </a:rPr>
              <a:t>Vérification</a:t>
            </a:r>
            <a:endParaRPr lang="en-US" sz="1500" dirty="0"/>
          </a:p>
        </p:txBody>
      </p:sp>
      <p:sp>
        <p:nvSpPr>
          <p:cNvPr id="21" name="Text 17"/>
          <p:cNvSpPr txBox="1"/>
          <p:nvPr/>
        </p:nvSpPr>
        <p:spPr>
          <a:xfrm>
            <a:off x="5257800" y="2121408"/>
            <a:ext cx="1737360" cy="868680"/>
          </a:xfrm>
          <a:prstGeom prst="rect">
            <a:avLst/>
          </a:prstGeom>
          <a:noFill/>
          <a:ln/>
        </p:spPr>
        <p:txBody>
          <a:bodyPr wrap="square" lIns="0" tIns="0" rIns="0" bIns="0" rtlCol="0" anchor="t"/>
          <a:lstStyle/>
          <a:p>
            <a:pPr indent="0" marL="0">
              <a:buNone/>
            </a:pPr>
            <a:r>
              <a:rPr lang="en-US" sz="1200" dirty="0">
                <a:solidFill>
                  <a:srgbClr val="323230"/>
                </a:solidFill>
              </a:rPr>
              <a:t>A&amp;F valide, rejette avec motif ou pose une question</a:t>
            </a:r>
            <a:endParaRPr lang="en-US" sz="1200" dirty="0"/>
          </a:p>
        </p:txBody>
      </p:sp>
      <p:pic>
        <p:nvPicPr>
          <p:cNvPr id="22" name="Image 2" descr="Vérification">    </p:cNvPr>
          <p:cNvPicPr>
            <a:picLocks noChangeAspect="1"/>
          </p:cNvPicPr>
          <p:nvPr/>
        </p:nvPicPr>
        <p:blipFill>
          <a:blip r:embed="rId3"/>
          <a:srcRect l="0" r="0" t="0" b="0"/>
          <a:stretch/>
        </p:blipFill>
        <p:spPr>
          <a:xfrm>
            <a:off x="5257800" y="3017520"/>
            <a:ext cx="1737360" cy="2788920"/>
          </a:xfrm>
          <a:prstGeom prst="rect">
            <a:avLst/>
          </a:prstGeom>
        </p:spPr>
      </p:pic>
      <p:sp>
        <p:nvSpPr>
          <p:cNvPr id="23" name="Text 18"/>
          <p:cNvSpPr txBox="1"/>
          <p:nvPr/>
        </p:nvSpPr>
        <p:spPr>
          <a:xfrm>
            <a:off x="7132320" y="3291840"/>
            <a:ext cx="274320" cy="548640"/>
          </a:xfrm>
          <a:prstGeom prst="rect">
            <a:avLst/>
          </a:prstGeom>
          <a:noFill/>
          <a:ln/>
        </p:spPr>
        <p:txBody>
          <a:bodyPr wrap="square" lIns="0" tIns="0" rIns="0" bIns="0" rtlCol="0" anchor="t"/>
          <a:lstStyle/>
          <a:p>
            <a:pPr algn="ctr" indent="0" marL="0">
              <a:buNone/>
            </a:pPr>
            <a:r>
              <a:rPr lang="en-US" sz="3000" b="1" dirty="0">
                <a:solidFill>
                  <a:srgbClr val="0095C9"/>
                </a:solidFill>
              </a:rPr>
              <a:t>›</a:t>
            </a:r>
            <a:endParaRPr lang="en-US" sz="3000" dirty="0"/>
          </a:p>
        </p:txBody>
      </p:sp>
      <p:sp>
        <p:nvSpPr>
          <p:cNvPr id="24" name="étape Consolidation"/>
          <p:cNvSpPr/>
          <p:nvPr/>
        </p:nvSpPr>
        <p:spPr>
          <a:xfrm>
            <a:off x="7406640" y="1417320"/>
            <a:ext cx="2011680" cy="4526280"/>
          </a:xfrm>
          <a:prstGeom prst="rect">
            <a:avLst/>
          </a:prstGeom>
          <a:solidFill>
            <a:srgbClr val="F3F5F8"/>
          </a:solidFill>
          <a:ln/>
        </p:spPr>
      </p:sp>
      <p:sp>
        <p:nvSpPr>
          <p:cNvPr id="25" name="Shape 20"/>
          <p:cNvSpPr/>
          <p:nvPr/>
        </p:nvSpPr>
        <p:spPr>
          <a:xfrm>
            <a:off x="7543800" y="1572768"/>
            <a:ext cx="438912" cy="438912"/>
          </a:xfrm>
          <a:prstGeom prst="ellipse">
            <a:avLst/>
          </a:prstGeom>
          <a:solidFill>
            <a:srgbClr val="17418A"/>
          </a:solidFill>
          <a:ln/>
        </p:spPr>
      </p:sp>
      <p:sp>
        <p:nvSpPr>
          <p:cNvPr id="26" name="Text 21"/>
          <p:cNvSpPr txBox="1"/>
          <p:nvPr/>
        </p:nvSpPr>
        <p:spPr>
          <a:xfrm>
            <a:off x="7543800" y="15727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7" name="Text 22"/>
          <p:cNvSpPr txBox="1"/>
          <p:nvPr/>
        </p:nvSpPr>
        <p:spPr>
          <a:xfrm>
            <a:off x="8065008" y="1572768"/>
            <a:ext cx="1280160" cy="438912"/>
          </a:xfrm>
          <a:prstGeom prst="rect">
            <a:avLst/>
          </a:prstGeom>
          <a:noFill/>
          <a:ln/>
        </p:spPr>
        <p:txBody>
          <a:bodyPr wrap="square" lIns="0" tIns="0" rIns="0" bIns="0" rtlCol="0" anchor="ctr"/>
          <a:lstStyle/>
          <a:p>
            <a:pPr indent="0" marL="0">
              <a:buNone/>
            </a:pPr>
            <a:r>
              <a:rPr lang="en-US" sz="1500" b="1" dirty="0">
                <a:solidFill>
                  <a:srgbClr val="17418A"/>
                </a:solidFill>
              </a:rPr>
              <a:t>Consolidation</a:t>
            </a:r>
            <a:endParaRPr lang="en-US" sz="1500" dirty="0"/>
          </a:p>
        </p:txBody>
      </p:sp>
      <p:sp>
        <p:nvSpPr>
          <p:cNvPr id="28" name="Text 23"/>
          <p:cNvSpPr txBox="1"/>
          <p:nvPr/>
        </p:nvSpPr>
        <p:spPr>
          <a:xfrm>
            <a:off x="7543800" y="2121408"/>
            <a:ext cx="1737360" cy="868680"/>
          </a:xfrm>
          <a:prstGeom prst="rect">
            <a:avLst/>
          </a:prstGeom>
          <a:noFill/>
          <a:ln/>
        </p:spPr>
        <p:txBody>
          <a:bodyPr wrap="square" lIns="0" tIns="0" rIns="0" bIns="0" rtlCol="0" anchor="t"/>
          <a:lstStyle/>
          <a:p>
            <a:pPr indent="0" marL="0">
              <a:buNone/>
            </a:pPr>
            <a:r>
              <a:rPr lang="en-US" sz="1200" dirty="0">
                <a:solidFill>
                  <a:srgbClr val="323230"/>
                </a:solidFill>
              </a:rPr>
              <a:t>Tableaux de bord et états se mettent à jour</a:t>
            </a:r>
            <a:endParaRPr lang="en-US" sz="1200" dirty="0"/>
          </a:p>
        </p:txBody>
      </p:sp>
      <p:pic>
        <p:nvPicPr>
          <p:cNvPr id="29" name="Image 3" descr="Consolidation">    </p:cNvPr>
          <p:cNvPicPr>
            <a:picLocks noChangeAspect="1"/>
          </p:cNvPicPr>
          <p:nvPr/>
        </p:nvPicPr>
        <p:blipFill>
          <a:blip r:embed="rId4"/>
          <a:srcRect l="0" r="0" t="0" b="0"/>
          <a:stretch/>
        </p:blipFill>
        <p:spPr>
          <a:xfrm>
            <a:off x="7543800" y="3017520"/>
            <a:ext cx="1737360" cy="2788920"/>
          </a:xfrm>
          <a:prstGeom prst="rect">
            <a:avLst/>
          </a:prstGeom>
        </p:spPr>
      </p:pic>
      <p:sp>
        <p:nvSpPr>
          <p:cNvPr id="30" name="Text 24"/>
          <p:cNvSpPr txBox="1"/>
          <p:nvPr/>
        </p:nvSpPr>
        <p:spPr>
          <a:xfrm>
            <a:off x="9418320" y="3291840"/>
            <a:ext cx="274320" cy="548640"/>
          </a:xfrm>
          <a:prstGeom prst="rect">
            <a:avLst/>
          </a:prstGeom>
          <a:noFill/>
          <a:ln/>
        </p:spPr>
        <p:txBody>
          <a:bodyPr wrap="square" lIns="0" tIns="0" rIns="0" bIns="0" rtlCol="0" anchor="t"/>
          <a:lstStyle/>
          <a:p>
            <a:pPr algn="ctr" indent="0" marL="0">
              <a:buNone/>
            </a:pPr>
            <a:r>
              <a:rPr lang="en-US" sz="3000" b="1" dirty="0">
                <a:solidFill>
                  <a:srgbClr val="0095C9"/>
                </a:solidFill>
              </a:rPr>
              <a:t>›</a:t>
            </a:r>
            <a:endParaRPr lang="en-US" sz="3000" dirty="0"/>
          </a:p>
        </p:txBody>
      </p:sp>
      <p:sp>
        <p:nvSpPr>
          <p:cNvPr id="31" name="étape Rapports"/>
          <p:cNvSpPr/>
          <p:nvPr/>
        </p:nvSpPr>
        <p:spPr>
          <a:xfrm>
            <a:off x="9692640" y="1417320"/>
            <a:ext cx="2011680" cy="4526280"/>
          </a:xfrm>
          <a:prstGeom prst="rect">
            <a:avLst/>
          </a:prstGeom>
          <a:solidFill>
            <a:srgbClr val="F3F5F8"/>
          </a:solidFill>
          <a:ln/>
        </p:spPr>
      </p:sp>
      <p:sp>
        <p:nvSpPr>
          <p:cNvPr id="32" name="Shape 26"/>
          <p:cNvSpPr/>
          <p:nvPr/>
        </p:nvSpPr>
        <p:spPr>
          <a:xfrm>
            <a:off x="9829800" y="1572768"/>
            <a:ext cx="438912" cy="438912"/>
          </a:xfrm>
          <a:prstGeom prst="ellipse">
            <a:avLst/>
          </a:prstGeom>
          <a:solidFill>
            <a:srgbClr val="65B32E"/>
          </a:solidFill>
          <a:ln/>
        </p:spPr>
      </p:sp>
      <p:sp>
        <p:nvSpPr>
          <p:cNvPr id="33" name="Text 27"/>
          <p:cNvSpPr txBox="1"/>
          <p:nvPr/>
        </p:nvSpPr>
        <p:spPr>
          <a:xfrm>
            <a:off x="9829800" y="15727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4" name="Text 28"/>
          <p:cNvSpPr txBox="1"/>
          <p:nvPr/>
        </p:nvSpPr>
        <p:spPr>
          <a:xfrm>
            <a:off x="10351008" y="1572768"/>
            <a:ext cx="1280160" cy="438912"/>
          </a:xfrm>
          <a:prstGeom prst="rect">
            <a:avLst/>
          </a:prstGeom>
          <a:noFill/>
          <a:ln/>
        </p:spPr>
        <p:txBody>
          <a:bodyPr wrap="square" lIns="0" tIns="0" rIns="0" bIns="0" rtlCol="0" anchor="ctr"/>
          <a:lstStyle/>
          <a:p>
            <a:pPr indent="0" marL="0">
              <a:buNone/>
            </a:pPr>
            <a:r>
              <a:rPr lang="en-US" sz="1500" b="1" dirty="0">
                <a:solidFill>
                  <a:srgbClr val="17418A"/>
                </a:solidFill>
              </a:rPr>
              <a:t>Rapports</a:t>
            </a:r>
            <a:endParaRPr lang="en-US" sz="1500" dirty="0"/>
          </a:p>
        </p:txBody>
      </p:sp>
      <p:sp>
        <p:nvSpPr>
          <p:cNvPr id="35" name="Text 29"/>
          <p:cNvSpPr txBox="1"/>
          <p:nvPr/>
        </p:nvSpPr>
        <p:spPr>
          <a:xfrm>
            <a:off x="9829800" y="2121408"/>
            <a:ext cx="1737360" cy="868680"/>
          </a:xfrm>
          <a:prstGeom prst="rect">
            <a:avLst/>
          </a:prstGeom>
          <a:noFill/>
          <a:ln/>
        </p:spPr>
        <p:txBody>
          <a:bodyPr wrap="square" lIns="0" tIns="0" rIns="0" bIns="0" rtlCol="0" anchor="t"/>
          <a:lstStyle/>
          <a:p>
            <a:pPr indent="0" marL="0">
              <a:buNone/>
            </a:pPr>
            <a:r>
              <a:rPr lang="en-US" sz="1200" dirty="0">
                <a:solidFill>
                  <a:srgbClr val="323230"/>
                </a:solidFill>
              </a:rPr>
              <a:t>Documents officiels émis avec code QR</a:t>
            </a:r>
            <a:endParaRPr lang="en-US" sz="1200" dirty="0"/>
          </a:p>
        </p:txBody>
      </p:sp>
      <p:pic>
        <p:nvPicPr>
          <p:cNvPr id="36" name="Image 4" descr="Rapports">    </p:cNvPr>
          <p:cNvPicPr>
            <a:picLocks noChangeAspect="1"/>
          </p:cNvPicPr>
          <p:nvPr/>
        </p:nvPicPr>
        <p:blipFill>
          <a:blip r:embed="rId5"/>
          <a:srcRect l="0" r="0" t="0" b="0"/>
          <a:stretch/>
        </p:blipFill>
        <p:spPr>
          <a:xfrm>
            <a:off x="9829800" y="3017520"/>
            <a:ext cx="1737360" cy="2788920"/>
          </a:xfrm>
          <a:prstGeom prst="rect">
            <a:avLst/>
          </a:prstGeom>
        </p:spPr>
      </p:pic>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Pour l’Inspecteur Général : décider sur les chiffres du jour</a:t>
            </a:r>
            <a:endParaRPr lang="en-US" sz="3000" dirty="0"/>
          </a:p>
        </p:txBody>
      </p:sp>
      <p:sp>
        <p:nvSpPr>
          <p:cNvPr id="3" name="téléphone"/>
          <p:cNvSpPr/>
          <p:nvPr/>
        </p:nvSpPr>
        <p:spPr>
          <a:xfrm>
            <a:off x="731520" y="1325880"/>
            <a:ext cx="2295534" cy="4846320"/>
          </a:xfrm>
          <a:prstGeom prst="roundRect">
            <a:avLst>
              <a:gd name="adj" fmla="val 9958"/>
            </a:avLst>
          </a:prstGeom>
          <a:solidFill>
            <a:srgbClr val="1C1C1E"/>
          </a:solidFill>
          <a:ln/>
          <a:effectLst>
            <a:outerShdw sx="100000" sy="100000" kx="0" ky="0" algn="bl" rotWithShape="0" blurRad="127000" dist="50800" dir="5400000">
              <a:srgbClr val="000000">
                <a:alpha val="25000"/>
              </a:srgbClr>
            </a:outerShdw>
          </a:effectLst>
        </p:spPr>
      </p:sp>
      <p:pic>
        <p:nvPicPr>
          <p:cNvPr id="4" name="écran m-dir-synthese.jpg" descr="Synthèse sur téléphone">    </p:cNvPr>
          <p:cNvPicPr>
            <a:picLocks noChangeAspect="1"/>
          </p:cNvPicPr>
          <p:nvPr/>
        </p:nvPicPr>
        <p:blipFill>
          <a:blip r:embed="rId1"/>
          <a:srcRect l="0" r="0" t="0" b="0"/>
          <a:stretch/>
        </p:blipFill>
        <p:spPr>
          <a:xfrm>
            <a:off x="822960" y="1463040"/>
            <a:ext cx="2112654" cy="4572000"/>
          </a:xfrm>
          <a:prstGeom prst="rect">
            <a:avLst/>
          </a:prstGeom>
        </p:spPr>
      </p:pic>
      <p:sp>
        <p:nvSpPr>
          <p:cNvPr id="5" name="téléphone"/>
          <p:cNvSpPr/>
          <p:nvPr/>
        </p:nvSpPr>
        <p:spPr>
          <a:xfrm>
            <a:off x="3291840" y="1325880"/>
            <a:ext cx="2295534" cy="4846320"/>
          </a:xfrm>
          <a:prstGeom prst="roundRect">
            <a:avLst>
              <a:gd name="adj" fmla="val 9958"/>
            </a:avLst>
          </a:prstGeom>
          <a:solidFill>
            <a:srgbClr val="1C1C1E"/>
          </a:solidFill>
          <a:ln/>
          <a:effectLst>
            <a:outerShdw sx="100000" sy="100000" kx="0" ky="0" algn="bl" rotWithShape="0" blurRad="127000" dist="50800" dir="5400000">
              <a:srgbClr val="000000">
                <a:alpha val="25000"/>
              </a:srgbClr>
            </a:outerShdw>
          </a:effectLst>
        </p:spPr>
      </p:sp>
      <p:pic>
        <p:nvPicPr>
          <p:cNvPr id="6" name="écran m-dir-visa.jpg" descr="Visa d’une demande de fonds sur téléphone">    </p:cNvPr>
          <p:cNvPicPr>
            <a:picLocks noChangeAspect="1"/>
          </p:cNvPicPr>
          <p:nvPr/>
        </p:nvPicPr>
        <p:blipFill>
          <a:blip r:embed="rId2"/>
          <a:srcRect l="0" r="0" t="0" b="0"/>
          <a:stretch/>
        </p:blipFill>
        <p:spPr>
          <a:xfrm>
            <a:off x="3383280" y="1463040"/>
            <a:ext cx="2112654" cy="4572000"/>
          </a:xfrm>
          <a:prstGeom prst="rect">
            <a:avLst/>
          </a:prstGeom>
        </p:spPr>
      </p:pic>
      <p:sp>
        <p:nvSpPr>
          <p:cNvPr id="7" name="pastille"/>
          <p:cNvSpPr/>
          <p:nvPr/>
        </p:nvSpPr>
        <p:spPr>
          <a:xfrm>
            <a:off x="6172200" y="1463040"/>
            <a:ext cx="640080" cy="640080"/>
          </a:xfrm>
          <a:prstGeom prst="ellipse">
            <a:avLst/>
          </a:prstGeom>
          <a:solidFill>
            <a:srgbClr val="17418A"/>
          </a:solidFill>
          <a:ln/>
        </p:spPr>
      </p:sp>
      <p:pic>
        <p:nvPicPr>
          <p:cNvPr id="8" name="icône FaChartLine" descr="FaChartLine">    </p:cNvPr>
          <p:cNvPicPr>
            <a:picLocks noChangeAspect="1"/>
          </p:cNvPicPr>
          <p:nvPr/>
        </p:nvPicPr>
        <p:blipFill>
          <a:blip r:embed="rId3"/>
          <a:stretch>
            <a:fillRect/>
          </a:stretch>
        </p:blipFill>
        <p:spPr>
          <a:xfrm>
            <a:off x="6325819" y="1616659"/>
            <a:ext cx="332842" cy="332842"/>
          </a:xfrm>
          <a:prstGeom prst="rect">
            <a:avLst/>
          </a:prstGeom>
        </p:spPr>
      </p:pic>
      <p:sp>
        <p:nvSpPr>
          <p:cNvPr id="9" name="Text 4"/>
          <p:cNvSpPr txBox="1"/>
          <p:nvPr/>
        </p:nvSpPr>
        <p:spPr>
          <a:xfrm>
            <a:off x="7040880" y="146304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Une synthèse en un coup d’œil</a:t>
            </a:r>
            <a:endParaRPr lang="en-US" sz="1700" dirty="0"/>
          </a:p>
        </p:txBody>
      </p:sp>
      <p:sp>
        <p:nvSpPr>
          <p:cNvPr id="10" name="Text 5"/>
          <p:cNvSpPr txBox="1"/>
          <p:nvPr/>
        </p:nvSpPr>
        <p:spPr>
          <a:xfrm>
            <a:off x="7040880" y="1901952"/>
            <a:ext cx="4572000" cy="914400"/>
          </a:xfrm>
          <a:prstGeom prst="rect">
            <a:avLst/>
          </a:prstGeom>
          <a:noFill/>
          <a:ln/>
        </p:spPr>
        <p:txBody>
          <a:bodyPr wrap="square" lIns="0" tIns="0" rIns="0" bIns="0" rtlCol="0" anchor="t"/>
          <a:lstStyle/>
          <a:p>
            <a:pPr indent="0" marL="0">
              <a:buNone/>
            </a:pPr>
            <a:r>
              <a:rPr lang="en-US" sz="1350" dirty="0">
                <a:solidFill>
                  <a:srgbClr val="323230"/>
                </a:solidFill>
              </a:rPr>
              <a:t>Budget consommé face au temps écoulé, caisses, avances à justifier, points d’attention : à jour, sur le téléphone.</a:t>
            </a:r>
            <a:endParaRPr lang="en-US" sz="1350" dirty="0"/>
          </a:p>
        </p:txBody>
      </p:sp>
      <p:sp>
        <p:nvSpPr>
          <p:cNvPr id="11" name="pastille"/>
          <p:cNvSpPr/>
          <p:nvPr/>
        </p:nvSpPr>
        <p:spPr>
          <a:xfrm>
            <a:off x="6172200" y="2971800"/>
            <a:ext cx="640080" cy="640080"/>
          </a:xfrm>
          <a:prstGeom prst="ellipse">
            <a:avLst/>
          </a:prstGeom>
          <a:solidFill>
            <a:srgbClr val="17418A"/>
          </a:solidFill>
          <a:ln/>
        </p:spPr>
      </p:sp>
      <p:pic>
        <p:nvPicPr>
          <p:cNvPr id="12" name="icône FaFileSignature" descr="FaFileSignature">    </p:cNvPr>
          <p:cNvPicPr>
            <a:picLocks noChangeAspect="1"/>
          </p:cNvPicPr>
          <p:nvPr/>
        </p:nvPicPr>
        <p:blipFill>
          <a:blip r:embed="rId4"/>
          <a:stretch>
            <a:fillRect/>
          </a:stretch>
        </p:blipFill>
        <p:spPr>
          <a:xfrm>
            <a:off x="6325819" y="3125419"/>
            <a:ext cx="332842" cy="332842"/>
          </a:xfrm>
          <a:prstGeom prst="rect">
            <a:avLst/>
          </a:prstGeom>
        </p:spPr>
      </p:pic>
      <p:sp>
        <p:nvSpPr>
          <p:cNvPr id="13" name="Text 7"/>
          <p:cNvSpPr txBox="1"/>
          <p:nvPr/>
        </p:nvSpPr>
        <p:spPr>
          <a:xfrm>
            <a:off x="7040880" y="297180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Des visas sans circuit papier</a:t>
            </a:r>
            <a:endParaRPr lang="en-US" sz="1700" dirty="0"/>
          </a:p>
        </p:txBody>
      </p:sp>
      <p:sp>
        <p:nvSpPr>
          <p:cNvPr id="14" name="Text 8"/>
          <p:cNvSpPr txBox="1"/>
          <p:nvPr/>
        </p:nvSpPr>
        <p:spPr>
          <a:xfrm>
            <a:off x="7040880" y="3410712"/>
            <a:ext cx="4572000" cy="914400"/>
          </a:xfrm>
          <a:prstGeom prst="rect">
            <a:avLst/>
          </a:prstGeom>
          <a:noFill/>
          <a:ln/>
        </p:spPr>
        <p:txBody>
          <a:bodyPr wrap="square" lIns="0" tIns="0" rIns="0" bIns="0" rtlCol="0" anchor="t"/>
          <a:lstStyle/>
          <a:p>
            <a:pPr indent="0" marL="0">
              <a:buNone/>
            </a:pPr>
            <a:r>
              <a:rPr lang="en-US" sz="1350" dirty="0">
                <a:solidFill>
                  <a:srgbClr val="323230"/>
                </a:solidFill>
              </a:rPr>
              <a:t>Les demandes de fonds, ordonnancements et missions au-delà du seuil arrivent par e-mail ; l’Inspecteur Général vise ou refuse avec son avis.</a:t>
            </a:r>
            <a:endParaRPr lang="en-US" sz="1350" dirty="0"/>
          </a:p>
        </p:txBody>
      </p:sp>
      <p:sp>
        <p:nvSpPr>
          <p:cNvPr id="15" name="pastille"/>
          <p:cNvSpPr/>
          <p:nvPr/>
        </p:nvSpPr>
        <p:spPr>
          <a:xfrm>
            <a:off x="6172200" y="4480560"/>
            <a:ext cx="640080" cy="640080"/>
          </a:xfrm>
          <a:prstGeom prst="ellipse">
            <a:avLst/>
          </a:prstGeom>
          <a:solidFill>
            <a:srgbClr val="17418A"/>
          </a:solidFill>
          <a:ln/>
        </p:spPr>
      </p:sp>
      <p:pic>
        <p:nvPicPr>
          <p:cNvPr id="16" name="icône FaBalanceScale" descr="FaBalanceScale">    </p:cNvPr>
          <p:cNvPicPr>
            <a:picLocks noChangeAspect="1"/>
          </p:cNvPicPr>
          <p:nvPr/>
        </p:nvPicPr>
        <p:blipFill>
          <a:blip r:embed="rId5"/>
          <a:stretch>
            <a:fillRect/>
          </a:stretch>
        </p:blipFill>
        <p:spPr>
          <a:xfrm>
            <a:off x="6325819" y="4634179"/>
            <a:ext cx="332842" cy="332842"/>
          </a:xfrm>
          <a:prstGeom prst="rect">
            <a:avLst/>
          </a:prstGeom>
        </p:spPr>
      </p:pic>
      <p:sp>
        <p:nvSpPr>
          <p:cNvPr id="17" name="Text 10"/>
          <p:cNvSpPr txBox="1"/>
          <p:nvPr/>
        </p:nvSpPr>
        <p:spPr>
          <a:xfrm>
            <a:off x="7040880" y="448056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Où contrôler en priorité</a:t>
            </a:r>
            <a:endParaRPr lang="en-US" sz="1700" dirty="0"/>
          </a:p>
        </p:txBody>
      </p:sp>
      <p:sp>
        <p:nvSpPr>
          <p:cNvPr id="18" name="Text 11"/>
          <p:cNvSpPr txBox="1"/>
          <p:nvPr/>
        </p:nvSpPr>
        <p:spPr>
          <a:xfrm>
            <a:off x="7040880" y="4919472"/>
            <a:ext cx="4572000" cy="914400"/>
          </a:xfrm>
          <a:prstGeom prst="rect">
            <a:avLst/>
          </a:prstGeom>
          <a:noFill/>
          <a:ln/>
        </p:spPr>
        <p:txBody>
          <a:bodyPr wrap="square" lIns="0" tIns="0" rIns="0" bIns="0" rtlCol="0" anchor="t"/>
          <a:lstStyle/>
          <a:p>
            <a:pPr indent="0" marL="0">
              <a:buNone/>
            </a:pPr>
            <a:r>
              <a:rPr lang="en-US" sz="1350" dirty="0">
                <a:solidFill>
                  <a:srgbClr val="323230"/>
                </a:solidFill>
              </a:rPr>
              <a:t>Un score de risque par service oriente les contrôles sur place et les comptages inopinés.</a:t>
            </a:r>
            <a:endParaRPr lang="en-US" sz="135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Les règles de gestion appliquées automatiquement</a:t>
            </a:r>
            <a:endParaRPr lang="en-US" sz="3000" dirty="0"/>
          </a:p>
        </p:txBody>
      </p:sp>
      <p:sp>
        <p:nvSpPr>
          <p:cNvPr id="3" name="cadre af-dossier.jpg"/>
          <p:cNvSpPr/>
          <p:nvPr/>
        </p:nvSpPr>
        <p:spPr>
          <a:xfrm>
            <a:off x="5449824" y="1335024"/>
            <a:ext cx="6245352" cy="3928962"/>
          </a:xfrm>
          <a:prstGeom prst="rect">
            <a:avLst/>
          </a:prstGeom>
          <a:solidFill>
            <a:srgbClr val="FFFFFF"/>
          </a:solidFill>
          <a:ln w="9525">
            <a:solidFill>
              <a:srgbClr val="E1E5EA"/>
            </a:solidFill>
            <a:prstDash val="solid"/>
          </a:ln>
          <a:effectLst>
            <a:outerShdw sx="100000" sy="100000" kx="0" ky="0" algn="bl" rotWithShape="0" blurRad="101600" dist="38100" dir="5400000">
              <a:srgbClr val="17418A">
                <a:alpha val="18000"/>
              </a:srgbClr>
            </a:outerShdw>
          </a:effectLst>
        </p:spPr>
      </p:sp>
      <p:pic>
        <p:nvPicPr>
          <p:cNvPr id="4" name="capture af-dossier.jpg" descr="Détail d’une écriture en vérification">    </p:cNvPr>
          <p:cNvPicPr>
            <a:picLocks noChangeAspect="1"/>
          </p:cNvPicPr>
          <p:nvPr/>
        </p:nvPicPr>
        <p:blipFill>
          <a:blip r:embed="rId1"/>
          <a:stretch>
            <a:fillRect/>
          </a:stretch>
        </p:blipFill>
        <p:spPr>
          <a:xfrm>
            <a:off x="5486400" y="1371600"/>
            <a:ext cx="6172200" cy="3855810"/>
          </a:xfrm>
          <a:prstGeom prst="rect">
            <a:avLst/>
          </a:prstGeom>
        </p:spPr>
      </p:pic>
      <p:sp>
        <p:nvSpPr>
          <p:cNvPr id="5" name="Text 2"/>
          <p:cNvSpPr txBox="1"/>
          <p:nvPr/>
        </p:nvSpPr>
        <p:spPr>
          <a:xfrm>
            <a:off x="548640" y="1371600"/>
            <a:ext cx="4572000" cy="365760"/>
          </a:xfrm>
          <a:prstGeom prst="rect">
            <a:avLst/>
          </a:prstGeom>
          <a:noFill/>
          <a:ln/>
        </p:spPr>
        <p:txBody>
          <a:bodyPr wrap="square" lIns="0" tIns="0" rIns="0" bIns="0" rtlCol="0" anchor="t"/>
          <a:lstStyle/>
          <a:p>
            <a:pPr indent="0" marL="0">
              <a:buNone/>
            </a:pPr>
            <a:r>
              <a:rPr lang="en-US" sz="1700" b="1" dirty="0">
                <a:solidFill>
                  <a:srgbClr val="DB3832"/>
                </a:solidFill>
              </a:rPr>
              <a:t>Bloqué à la saisie</a:t>
            </a:r>
            <a:endParaRPr lang="en-US" sz="1700" dirty="0"/>
          </a:p>
        </p:txBody>
      </p:sp>
      <p:sp>
        <p:nvSpPr>
          <p:cNvPr id="6" name="Text 3"/>
          <p:cNvSpPr txBox="1"/>
          <p:nvPr/>
        </p:nvSpPr>
        <p:spPr>
          <a:xfrm>
            <a:off x="548640" y="1783080"/>
            <a:ext cx="466344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23230"/>
                </a:solidFill>
              </a:rPr>
              <a:t>Caisse qui deviendrait négative</a:t>
            </a:r>
            <a:endParaRPr lang="en-US" sz="1400" dirty="0"/>
          </a:p>
          <a:p>
            <a:pPr marL="342900" indent="-342900">
              <a:spcAft>
                <a:spcPts val="400"/>
              </a:spcAft>
              <a:buSzPct val="100000"/>
              <a:buChar char="•"/>
            </a:pPr>
            <a:r>
              <a:rPr lang="en-US" sz="1400" dirty="0">
                <a:solidFill>
                  <a:srgbClr val="323230"/>
                </a:solidFill>
              </a:rPr>
              <a:t>Dépassement du budget d’une rubrique</a:t>
            </a:r>
            <a:endParaRPr lang="en-US" sz="1400" dirty="0"/>
          </a:p>
          <a:p>
            <a:pPr marL="342900" indent="-342900">
              <a:spcAft>
                <a:spcPts val="400"/>
              </a:spcAft>
              <a:buSzPct val="100000"/>
              <a:buChar char="•"/>
            </a:pPr>
            <a:r>
              <a:rPr lang="en-US" sz="1400" dirty="0">
                <a:solidFill>
                  <a:srgbClr val="323230"/>
                </a:solidFill>
              </a:rPr>
              <a:t>Paiement en espèces au-delà de 2 000 000 CDF</a:t>
            </a:r>
            <a:endParaRPr lang="en-US" sz="1400" dirty="0"/>
          </a:p>
          <a:p>
            <a:pPr marL="342900" indent="-342900">
              <a:spcAft>
                <a:spcPts val="400"/>
              </a:spcAft>
              <a:buSzPct val="100000"/>
              <a:buChar char="•"/>
            </a:pPr>
            <a:r>
              <a:rPr lang="en-US" sz="1400" dirty="0">
                <a:solidFill>
                  <a:srgbClr val="323230"/>
                </a:solidFill>
              </a:rPr>
              <a:t>Dépense sans pièce justificative</a:t>
            </a:r>
            <a:endParaRPr lang="en-US" sz="1400" dirty="0"/>
          </a:p>
          <a:p>
            <a:pPr marL="342900" indent="-342900">
              <a:spcAft>
                <a:spcPts val="400"/>
              </a:spcAft>
              <a:buSzPct val="100000"/>
              <a:buChar char="•"/>
            </a:pPr>
            <a:r>
              <a:rPr lang="en-US" sz="1400" dirty="0">
                <a:solidFill>
                  <a:srgbClr val="323230"/>
                </a:solidFill>
              </a:rPr>
              <a:t>Écriture dans un mois clôturé</a:t>
            </a:r>
            <a:endParaRPr lang="en-US" sz="1400" dirty="0"/>
          </a:p>
        </p:txBody>
      </p:sp>
      <p:sp>
        <p:nvSpPr>
          <p:cNvPr id="7" name="Text 4"/>
          <p:cNvSpPr txBox="1"/>
          <p:nvPr/>
        </p:nvSpPr>
        <p:spPr>
          <a:xfrm>
            <a:off x="548640" y="3749040"/>
            <a:ext cx="4572000" cy="365760"/>
          </a:xfrm>
          <a:prstGeom prst="rect">
            <a:avLst/>
          </a:prstGeom>
          <a:noFill/>
          <a:ln/>
        </p:spPr>
        <p:txBody>
          <a:bodyPr wrap="square" lIns="0" tIns="0" rIns="0" bIns="0" rtlCol="0" anchor="t"/>
          <a:lstStyle/>
          <a:p>
            <a:pPr indent="0" marL="0">
              <a:buNone/>
            </a:pPr>
            <a:r>
              <a:rPr lang="en-US" sz="1700" b="1" dirty="0">
                <a:solidFill>
                  <a:srgbClr val="ED7016"/>
                </a:solidFill>
              </a:rPr>
              <a:t>Signalé au vérificateur</a:t>
            </a:r>
            <a:endParaRPr lang="en-US" sz="1700" dirty="0"/>
          </a:p>
        </p:txBody>
      </p:sp>
      <p:sp>
        <p:nvSpPr>
          <p:cNvPr id="8" name="Text 5"/>
          <p:cNvSpPr txBox="1"/>
          <p:nvPr/>
        </p:nvSpPr>
        <p:spPr>
          <a:xfrm>
            <a:off x="548640" y="4160520"/>
            <a:ext cx="466344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23230"/>
                </a:solidFill>
              </a:rPr>
              <a:t>Même facture saisie deux fois</a:t>
            </a:r>
            <a:endParaRPr lang="en-US" sz="1400" dirty="0"/>
          </a:p>
          <a:p>
            <a:pPr marL="342900" indent="-342900">
              <a:spcAft>
                <a:spcPts val="400"/>
              </a:spcAft>
              <a:buSzPct val="100000"/>
              <a:buChar char="•"/>
            </a:pPr>
            <a:r>
              <a:rPr lang="en-US" sz="1400" dirty="0">
                <a:solidFill>
                  <a:srgbClr val="323230"/>
                </a:solidFill>
              </a:rPr>
              <a:t>Achats fractionnés sous le plafond</a:t>
            </a:r>
            <a:endParaRPr lang="en-US" sz="1400" dirty="0"/>
          </a:p>
          <a:p>
            <a:pPr marL="342900" indent="-342900">
              <a:spcAft>
                <a:spcPts val="400"/>
              </a:spcAft>
              <a:buSzPct val="100000"/>
              <a:buChar char="•"/>
            </a:pPr>
            <a:r>
              <a:rPr lang="en-US" sz="1400" dirty="0">
                <a:solidFill>
                  <a:srgbClr val="323230"/>
                </a:solidFill>
              </a:rPr>
              <a:t>Dépense un jour non ouvré</a:t>
            </a:r>
            <a:endParaRPr lang="en-US" sz="1400" dirty="0"/>
          </a:p>
          <a:p>
            <a:pPr marL="342900" indent="-342900">
              <a:spcAft>
                <a:spcPts val="400"/>
              </a:spcAft>
              <a:buSzPct val="100000"/>
              <a:buChar char="•"/>
            </a:pPr>
            <a:r>
              <a:rPr lang="en-US" sz="1400" dirty="0">
                <a:solidFill>
                  <a:srgbClr val="323230"/>
                </a:solidFill>
              </a:rPr>
              <a:t>Bénéficiaire identique à l’agent</a:t>
            </a:r>
            <a:endParaRPr lang="en-US" sz="1400" dirty="0"/>
          </a:p>
          <a:p>
            <a:pPr marL="342900" indent="-342900">
              <a:spcAft>
                <a:spcPts val="400"/>
              </a:spcAft>
              <a:buSzPct val="100000"/>
              <a:buChar char="•"/>
            </a:pPr>
            <a:r>
              <a:rPr lang="en-US" sz="1400" dirty="0">
                <a:solidFill>
                  <a:srgbClr val="323230"/>
                </a:solidFill>
              </a:rPr>
              <a:t>Saisie tardive, dossier incomplet</a:t>
            </a:r>
            <a:endParaRPr lang="en-US" sz="14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Au-delà de la caisse : toute la gestion des moyens</a:t>
            </a:r>
            <a:endParaRPr lang="en-US" sz="3000" dirty="0"/>
          </a:p>
        </p:txBody>
      </p:sp>
      <p:sp>
        <p:nvSpPr>
          <p:cNvPr id="3" name="module Demandes de fonds"/>
          <p:cNvSpPr/>
          <p:nvPr/>
        </p:nvSpPr>
        <p:spPr>
          <a:xfrm>
            <a:off x="548640" y="1325880"/>
            <a:ext cx="3520440" cy="2304288"/>
          </a:xfrm>
          <a:prstGeom prst="rect">
            <a:avLst/>
          </a:prstGeom>
          <a:solidFill>
            <a:srgbClr val="F3F5F8"/>
          </a:solidFill>
          <a:ln/>
        </p:spPr>
      </p:sp>
      <p:pic>
        <p:nvPicPr>
          <p:cNvPr id="4" name="Image 0" descr="Demandes de fonds">    </p:cNvPr>
          <p:cNvPicPr>
            <a:picLocks noChangeAspect="1"/>
          </p:cNvPicPr>
          <p:nvPr/>
        </p:nvPicPr>
        <p:blipFill>
          <a:blip r:embed="rId1"/>
          <a:srcRect l="0" r="0" t="0" b="0"/>
          <a:stretch/>
        </p:blipFill>
        <p:spPr>
          <a:xfrm>
            <a:off x="548640" y="1325880"/>
            <a:ext cx="3520440" cy="1005840"/>
          </a:xfrm>
          <a:prstGeom prst="rect">
            <a:avLst/>
          </a:prstGeom>
        </p:spPr>
      </p:pic>
      <p:sp>
        <p:nvSpPr>
          <p:cNvPr id="5" name="pastille"/>
          <p:cNvSpPr/>
          <p:nvPr/>
        </p:nvSpPr>
        <p:spPr>
          <a:xfrm>
            <a:off x="731520" y="2130552"/>
            <a:ext cx="457200" cy="457200"/>
          </a:xfrm>
          <a:prstGeom prst="ellipse">
            <a:avLst/>
          </a:prstGeom>
          <a:solidFill>
            <a:srgbClr val="17418A"/>
          </a:solidFill>
          <a:ln/>
        </p:spPr>
      </p:sp>
      <p:pic>
        <p:nvPicPr>
          <p:cNvPr id="6" name="icône FaHandHoldingUsd" descr="FaHandHoldingUsd">    </p:cNvPr>
          <p:cNvPicPr>
            <a:picLocks noChangeAspect="1"/>
          </p:cNvPicPr>
          <p:nvPr/>
        </p:nvPicPr>
        <p:blipFill>
          <a:blip r:embed="rId2"/>
          <a:stretch>
            <a:fillRect/>
          </a:stretch>
        </p:blipFill>
        <p:spPr>
          <a:xfrm>
            <a:off x="841248" y="2240280"/>
            <a:ext cx="237744" cy="237744"/>
          </a:xfrm>
          <a:prstGeom prst="rect">
            <a:avLst/>
          </a:prstGeom>
        </p:spPr>
      </p:pic>
      <p:sp>
        <p:nvSpPr>
          <p:cNvPr id="7" name="Text 3"/>
          <p:cNvSpPr txBox="1"/>
          <p:nvPr/>
        </p:nvSpPr>
        <p:spPr>
          <a:xfrm>
            <a:off x="1298448" y="2395728"/>
            <a:ext cx="2651760" cy="384048"/>
          </a:xfrm>
          <a:prstGeom prst="rect">
            <a:avLst/>
          </a:prstGeom>
          <a:noFill/>
          <a:ln/>
        </p:spPr>
        <p:txBody>
          <a:bodyPr wrap="square" lIns="0" tIns="0" rIns="0" bIns="0" rtlCol="0" anchor="ctr"/>
          <a:lstStyle/>
          <a:p>
            <a:pPr indent="0" marL="0">
              <a:buNone/>
            </a:pPr>
            <a:r>
              <a:rPr lang="en-US" sz="1450" b="1" dirty="0">
                <a:solidFill>
                  <a:srgbClr val="17418A"/>
                </a:solidFill>
              </a:rPr>
              <a:t>Demandes de fonds</a:t>
            </a:r>
            <a:endParaRPr lang="en-US" sz="1450" dirty="0"/>
          </a:p>
        </p:txBody>
      </p:sp>
      <p:sp>
        <p:nvSpPr>
          <p:cNvPr id="8" name="Text 4"/>
          <p:cNvSpPr txBox="1"/>
          <p:nvPr/>
        </p:nvSpPr>
        <p:spPr>
          <a:xfrm>
            <a:off x="731520" y="2807208"/>
            <a:ext cx="3154680" cy="731520"/>
          </a:xfrm>
          <a:prstGeom prst="rect">
            <a:avLst/>
          </a:prstGeom>
          <a:noFill/>
          <a:ln/>
        </p:spPr>
        <p:txBody>
          <a:bodyPr wrap="square" lIns="0" tIns="0" rIns="0" bIns="0" rtlCol="0" anchor="t"/>
          <a:lstStyle/>
          <a:p>
            <a:pPr indent="0" marL="0">
              <a:buNone/>
            </a:pPr>
            <a:r>
              <a:rPr lang="en-US" sz="1200" dirty="0">
                <a:solidFill>
                  <a:srgbClr val="323230"/>
                </a:solidFill>
              </a:rPr>
              <a:t>Besoin exprimé, visas, accord, décaissement ; justification suivie.</a:t>
            </a:r>
            <a:endParaRPr lang="en-US" sz="1200" dirty="0"/>
          </a:p>
        </p:txBody>
      </p:sp>
      <p:sp>
        <p:nvSpPr>
          <p:cNvPr id="9" name="module Missions"/>
          <p:cNvSpPr/>
          <p:nvPr/>
        </p:nvSpPr>
        <p:spPr>
          <a:xfrm>
            <a:off x="4297680" y="1325880"/>
            <a:ext cx="3520440" cy="2304288"/>
          </a:xfrm>
          <a:prstGeom prst="rect">
            <a:avLst/>
          </a:prstGeom>
          <a:solidFill>
            <a:srgbClr val="F3F5F8"/>
          </a:solidFill>
          <a:ln/>
        </p:spPr>
      </p:sp>
      <p:pic>
        <p:nvPicPr>
          <p:cNvPr id="10" name="Image 2" descr="Missions">    </p:cNvPr>
          <p:cNvPicPr>
            <a:picLocks noChangeAspect="1"/>
          </p:cNvPicPr>
          <p:nvPr/>
        </p:nvPicPr>
        <p:blipFill>
          <a:blip r:embed="rId3"/>
          <a:srcRect l="0" r="0" t="0" b="0"/>
          <a:stretch/>
        </p:blipFill>
        <p:spPr>
          <a:xfrm>
            <a:off x="4297680" y="1325880"/>
            <a:ext cx="3520440" cy="1005840"/>
          </a:xfrm>
          <a:prstGeom prst="rect">
            <a:avLst/>
          </a:prstGeom>
        </p:spPr>
      </p:pic>
      <p:sp>
        <p:nvSpPr>
          <p:cNvPr id="11" name="pastille"/>
          <p:cNvSpPr/>
          <p:nvPr/>
        </p:nvSpPr>
        <p:spPr>
          <a:xfrm>
            <a:off x="4480560" y="2130552"/>
            <a:ext cx="457200" cy="457200"/>
          </a:xfrm>
          <a:prstGeom prst="ellipse">
            <a:avLst/>
          </a:prstGeom>
          <a:solidFill>
            <a:srgbClr val="17418A"/>
          </a:solidFill>
          <a:ln/>
        </p:spPr>
      </p:sp>
      <p:pic>
        <p:nvPicPr>
          <p:cNvPr id="12" name="icône FaRoute" descr="FaRoute">    </p:cNvPr>
          <p:cNvPicPr>
            <a:picLocks noChangeAspect="1"/>
          </p:cNvPicPr>
          <p:nvPr/>
        </p:nvPicPr>
        <p:blipFill>
          <a:blip r:embed="rId4"/>
          <a:stretch>
            <a:fillRect/>
          </a:stretch>
        </p:blipFill>
        <p:spPr>
          <a:xfrm>
            <a:off x="4590288" y="2240280"/>
            <a:ext cx="237744" cy="237744"/>
          </a:xfrm>
          <a:prstGeom prst="rect">
            <a:avLst/>
          </a:prstGeom>
        </p:spPr>
      </p:pic>
      <p:sp>
        <p:nvSpPr>
          <p:cNvPr id="13" name="Text 7"/>
          <p:cNvSpPr txBox="1"/>
          <p:nvPr/>
        </p:nvSpPr>
        <p:spPr>
          <a:xfrm>
            <a:off x="5047488" y="2395728"/>
            <a:ext cx="2651760" cy="384048"/>
          </a:xfrm>
          <a:prstGeom prst="rect">
            <a:avLst/>
          </a:prstGeom>
          <a:noFill/>
          <a:ln/>
        </p:spPr>
        <p:txBody>
          <a:bodyPr wrap="square" lIns="0" tIns="0" rIns="0" bIns="0" rtlCol="0" anchor="ctr"/>
          <a:lstStyle/>
          <a:p>
            <a:pPr indent="0" marL="0">
              <a:buNone/>
            </a:pPr>
            <a:r>
              <a:rPr lang="en-US" sz="1450" b="1" dirty="0">
                <a:solidFill>
                  <a:srgbClr val="17418A"/>
                </a:solidFill>
              </a:rPr>
              <a:t>Missions</a:t>
            </a:r>
            <a:endParaRPr lang="en-US" sz="1450" dirty="0"/>
          </a:p>
        </p:txBody>
      </p:sp>
      <p:sp>
        <p:nvSpPr>
          <p:cNvPr id="14" name="Text 8"/>
          <p:cNvSpPr txBox="1"/>
          <p:nvPr/>
        </p:nvSpPr>
        <p:spPr>
          <a:xfrm>
            <a:off x="4480560" y="2807208"/>
            <a:ext cx="3154680" cy="731520"/>
          </a:xfrm>
          <a:prstGeom prst="rect">
            <a:avLst/>
          </a:prstGeom>
          <a:noFill/>
          <a:ln/>
        </p:spPr>
        <p:txBody>
          <a:bodyPr wrap="square" lIns="0" tIns="0" rIns="0" bIns="0" rtlCol="0" anchor="t"/>
          <a:lstStyle/>
          <a:p>
            <a:pPr indent="0" marL="0">
              <a:buNone/>
            </a:pPr>
            <a:r>
              <a:rPr lang="en-US" sz="1200" dirty="0">
                <a:solidFill>
                  <a:srgbClr val="323230"/>
                </a:solidFill>
              </a:rPr>
              <a:t>Frais calculés selon le barème, ordre de mission officiel, liquidation au retour.</a:t>
            </a:r>
            <a:endParaRPr lang="en-US" sz="1200" dirty="0"/>
          </a:p>
        </p:txBody>
      </p:sp>
      <p:sp>
        <p:nvSpPr>
          <p:cNvPr id="15" name="module Parc et carburant"/>
          <p:cNvSpPr/>
          <p:nvPr/>
        </p:nvSpPr>
        <p:spPr>
          <a:xfrm>
            <a:off x="8046720" y="1325880"/>
            <a:ext cx="3520440" cy="2304288"/>
          </a:xfrm>
          <a:prstGeom prst="rect">
            <a:avLst/>
          </a:prstGeom>
          <a:solidFill>
            <a:srgbClr val="F3F5F8"/>
          </a:solidFill>
          <a:ln/>
        </p:spPr>
      </p:sp>
      <p:pic>
        <p:nvPicPr>
          <p:cNvPr id="16" name="Image 4" descr="Parc et carburant">    </p:cNvPr>
          <p:cNvPicPr>
            <a:picLocks noChangeAspect="1"/>
          </p:cNvPicPr>
          <p:nvPr/>
        </p:nvPicPr>
        <p:blipFill>
          <a:blip r:embed="rId5"/>
          <a:srcRect l="0" r="0" t="0" b="0"/>
          <a:stretch/>
        </p:blipFill>
        <p:spPr>
          <a:xfrm>
            <a:off x="8046720" y="1325880"/>
            <a:ext cx="3520440" cy="1005840"/>
          </a:xfrm>
          <a:prstGeom prst="rect">
            <a:avLst/>
          </a:prstGeom>
        </p:spPr>
      </p:pic>
      <p:sp>
        <p:nvSpPr>
          <p:cNvPr id="17" name="pastille"/>
          <p:cNvSpPr/>
          <p:nvPr/>
        </p:nvSpPr>
        <p:spPr>
          <a:xfrm>
            <a:off x="8229600" y="2130552"/>
            <a:ext cx="457200" cy="457200"/>
          </a:xfrm>
          <a:prstGeom prst="ellipse">
            <a:avLst/>
          </a:prstGeom>
          <a:solidFill>
            <a:srgbClr val="17418A"/>
          </a:solidFill>
          <a:ln/>
        </p:spPr>
      </p:sp>
      <p:pic>
        <p:nvPicPr>
          <p:cNvPr id="18" name="icône FaCarSide" descr="FaCarSide">    </p:cNvPr>
          <p:cNvPicPr>
            <a:picLocks noChangeAspect="1"/>
          </p:cNvPicPr>
          <p:nvPr/>
        </p:nvPicPr>
        <p:blipFill>
          <a:blip r:embed="rId6"/>
          <a:stretch>
            <a:fillRect/>
          </a:stretch>
        </p:blipFill>
        <p:spPr>
          <a:xfrm>
            <a:off x="8339328" y="2240280"/>
            <a:ext cx="237744" cy="237744"/>
          </a:xfrm>
          <a:prstGeom prst="rect">
            <a:avLst/>
          </a:prstGeom>
        </p:spPr>
      </p:pic>
      <p:sp>
        <p:nvSpPr>
          <p:cNvPr id="19" name="Text 11"/>
          <p:cNvSpPr txBox="1"/>
          <p:nvPr/>
        </p:nvSpPr>
        <p:spPr>
          <a:xfrm>
            <a:off x="8796528" y="2395728"/>
            <a:ext cx="2651760" cy="384048"/>
          </a:xfrm>
          <a:prstGeom prst="rect">
            <a:avLst/>
          </a:prstGeom>
          <a:noFill/>
          <a:ln/>
        </p:spPr>
        <p:txBody>
          <a:bodyPr wrap="square" lIns="0" tIns="0" rIns="0" bIns="0" rtlCol="0" anchor="ctr"/>
          <a:lstStyle/>
          <a:p>
            <a:pPr indent="0" marL="0">
              <a:buNone/>
            </a:pPr>
            <a:r>
              <a:rPr lang="en-US" sz="1450" b="1" dirty="0">
                <a:solidFill>
                  <a:srgbClr val="17418A"/>
                </a:solidFill>
              </a:rPr>
              <a:t>Parc et carburant</a:t>
            </a:r>
            <a:endParaRPr lang="en-US" sz="1450" dirty="0"/>
          </a:p>
        </p:txBody>
      </p:sp>
      <p:sp>
        <p:nvSpPr>
          <p:cNvPr id="20" name="Text 12"/>
          <p:cNvSpPr txBox="1"/>
          <p:nvPr/>
        </p:nvSpPr>
        <p:spPr>
          <a:xfrm>
            <a:off x="8229600" y="2807208"/>
            <a:ext cx="3154680" cy="731520"/>
          </a:xfrm>
          <a:prstGeom prst="rect">
            <a:avLst/>
          </a:prstGeom>
          <a:noFill/>
          <a:ln/>
        </p:spPr>
        <p:txBody>
          <a:bodyPr wrap="square" lIns="0" tIns="0" rIns="0" bIns="0" rtlCol="0" anchor="t"/>
          <a:lstStyle/>
          <a:p>
            <a:pPr indent="0" marL="0">
              <a:buNone/>
            </a:pPr>
            <a:r>
              <a:rPr lang="en-US" sz="1200" dirty="0">
                <a:solidFill>
                  <a:srgbClr val="323230"/>
                </a:solidFill>
              </a:rPr>
              <a:t>Véhicules, documents de bord, ordres de route, dotations et bons carburant.</a:t>
            </a:r>
            <a:endParaRPr lang="en-US" sz="1200" dirty="0"/>
          </a:p>
        </p:txBody>
      </p:sp>
      <p:sp>
        <p:nvSpPr>
          <p:cNvPr id="21" name="module Stocks"/>
          <p:cNvSpPr/>
          <p:nvPr/>
        </p:nvSpPr>
        <p:spPr>
          <a:xfrm>
            <a:off x="548640" y="3813048"/>
            <a:ext cx="3520440" cy="2304288"/>
          </a:xfrm>
          <a:prstGeom prst="rect">
            <a:avLst/>
          </a:prstGeom>
          <a:solidFill>
            <a:srgbClr val="F3F5F8"/>
          </a:solidFill>
          <a:ln/>
        </p:spPr>
      </p:sp>
      <p:pic>
        <p:nvPicPr>
          <p:cNvPr id="22" name="Image 6" descr="Stocks">    </p:cNvPr>
          <p:cNvPicPr>
            <a:picLocks noChangeAspect="1"/>
          </p:cNvPicPr>
          <p:nvPr/>
        </p:nvPicPr>
        <p:blipFill>
          <a:blip r:embed="rId7"/>
          <a:srcRect l="0" r="0" t="0" b="0"/>
          <a:stretch/>
        </p:blipFill>
        <p:spPr>
          <a:xfrm>
            <a:off x="548640" y="3813048"/>
            <a:ext cx="3520440" cy="1005840"/>
          </a:xfrm>
          <a:prstGeom prst="rect">
            <a:avLst/>
          </a:prstGeom>
        </p:spPr>
      </p:pic>
      <p:sp>
        <p:nvSpPr>
          <p:cNvPr id="23" name="pastille"/>
          <p:cNvSpPr/>
          <p:nvPr/>
        </p:nvSpPr>
        <p:spPr>
          <a:xfrm>
            <a:off x="731520" y="4617720"/>
            <a:ext cx="457200" cy="457200"/>
          </a:xfrm>
          <a:prstGeom prst="ellipse">
            <a:avLst/>
          </a:prstGeom>
          <a:solidFill>
            <a:srgbClr val="17418A"/>
          </a:solidFill>
          <a:ln/>
        </p:spPr>
      </p:sp>
      <p:pic>
        <p:nvPicPr>
          <p:cNvPr id="24" name="icône FaBoxes" descr="FaBoxes">    </p:cNvPr>
          <p:cNvPicPr>
            <a:picLocks noChangeAspect="1"/>
          </p:cNvPicPr>
          <p:nvPr/>
        </p:nvPicPr>
        <p:blipFill>
          <a:blip r:embed="rId8"/>
          <a:stretch>
            <a:fillRect/>
          </a:stretch>
        </p:blipFill>
        <p:spPr>
          <a:xfrm>
            <a:off x="841248" y="4727448"/>
            <a:ext cx="237744" cy="237744"/>
          </a:xfrm>
          <a:prstGeom prst="rect">
            <a:avLst/>
          </a:prstGeom>
        </p:spPr>
      </p:pic>
      <p:sp>
        <p:nvSpPr>
          <p:cNvPr id="25" name="Text 15"/>
          <p:cNvSpPr txBox="1"/>
          <p:nvPr/>
        </p:nvSpPr>
        <p:spPr>
          <a:xfrm>
            <a:off x="1298448" y="4882896"/>
            <a:ext cx="2651760" cy="384048"/>
          </a:xfrm>
          <a:prstGeom prst="rect">
            <a:avLst/>
          </a:prstGeom>
          <a:noFill/>
          <a:ln/>
        </p:spPr>
        <p:txBody>
          <a:bodyPr wrap="square" lIns="0" tIns="0" rIns="0" bIns="0" rtlCol="0" anchor="ctr"/>
          <a:lstStyle/>
          <a:p>
            <a:pPr indent="0" marL="0">
              <a:buNone/>
            </a:pPr>
            <a:r>
              <a:rPr lang="en-US" sz="1450" b="1" dirty="0">
                <a:solidFill>
                  <a:srgbClr val="17418A"/>
                </a:solidFill>
              </a:rPr>
              <a:t>Stocks</a:t>
            </a:r>
            <a:endParaRPr lang="en-US" sz="1450" dirty="0"/>
          </a:p>
        </p:txBody>
      </p:sp>
      <p:sp>
        <p:nvSpPr>
          <p:cNvPr id="26" name="Text 16"/>
          <p:cNvSpPr txBox="1"/>
          <p:nvPr/>
        </p:nvSpPr>
        <p:spPr>
          <a:xfrm>
            <a:off x="731520" y="5294376"/>
            <a:ext cx="3154680" cy="731520"/>
          </a:xfrm>
          <a:prstGeom prst="rect">
            <a:avLst/>
          </a:prstGeom>
          <a:noFill/>
          <a:ln/>
        </p:spPr>
        <p:txBody>
          <a:bodyPr wrap="square" lIns="0" tIns="0" rIns="0" bIns="0" rtlCol="0" anchor="t"/>
          <a:lstStyle/>
          <a:p>
            <a:pPr indent="0" marL="0">
              <a:buNone/>
            </a:pPr>
            <a:r>
              <a:rPr lang="en-US" sz="1200" dirty="0">
                <a:solidFill>
                  <a:srgbClr val="323230"/>
                </a:solidFill>
              </a:rPr>
              <a:t>Entrées, sorties par bureau, coût moyen, inventaire, seuils.</a:t>
            </a:r>
            <a:endParaRPr lang="en-US" sz="1200" dirty="0"/>
          </a:p>
        </p:txBody>
      </p:sp>
      <p:sp>
        <p:nvSpPr>
          <p:cNvPr id="27" name="module Trésorerie et banque"/>
          <p:cNvSpPr/>
          <p:nvPr/>
        </p:nvSpPr>
        <p:spPr>
          <a:xfrm>
            <a:off x="4297680" y="3813048"/>
            <a:ext cx="3520440" cy="2304288"/>
          </a:xfrm>
          <a:prstGeom prst="rect">
            <a:avLst/>
          </a:prstGeom>
          <a:solidFill>
            <a:srgbClr val="F3F5F8"/>
          </a:solidFill>
          <a:ln/>
        </p:spPr>
      </p:sp>
      <p:pic>
        <p:nvPicPr>
          <p:cNvPr id="28" name="Image 8" descr="Trésorerie et banque">    </p:cNvPr>
          <p:cNvPicPr>
            <a:picLocks noChangeAspect="1"/>
          </p:cNvPicPr>
          <p:nvPr/>
        </p:nvPicPr>
        <p:blipFill>
          <a:blip r:embed="rId9"/>
          <a:srcRect l="0" r="0" t="0" b="0"/>
          <a:stretch/>
        </p:blipFill>
        <p:spPr>
          <a:xfrm>
            <a:off x="4297680" y="3813048"/>
            <a:ext cx="3520440" cy="1005840"/>
          </a:xfrm>
          <a:prstGeom prst="rect">
            <a:avLst/>
          </a:prstGeom>
        </p:spPr>
      </p:pic>
      <p:sp>
        <p:nvSpPr>
          <p:cNvPr id="29" name="pastille"/>
          <p:cNvSpPr/>
          <p:nvPr/>
        </p:nvSpPr>
        <p:spPr>
          <a:xfrm>
            <a:off x="4480560" y="4617720"/>
            <a:ext cx="457200" cy="457200"/>
          </a:xfrm>
          <a:prstGeom prst="ellipse">
            <a:avLst/>
          </a:prstGeom>
          <a:solidFill>
            <a:srgbClr val="17418A"/>
          </a:solidFill>
          <a:ln/>
        </p:spPr>
      </p:sp>
      <p:pic>
        <p:nvPicPr>
          <p:cNvPr id="30" name="icône FaUniversity" descr="FaUniversity">    </p:cNvPr>
          <p:cNvPicPr>
            <a:picLocks noChangeAspect="1"/>
          </p:cNvPicPr>
          <p:nvPr/>
        </p:nvPicPr>
        <p:blipFill>
          <a:blip r:embed="rId10"/>
          <a:stretch>
            <a:fillRect/>
          </a:stretch>
        </p:blipFill>
        <p:spPr>
          <a:xfrm>
            <a:off x="4590288" y="4727448"/>
            <a:ext cx="237744" cy="237744"/>
          </a:xfrm>
          <a:prstGeom prst="rect">
            <a:avLst/>
          </a:prstGeom>
        </p:spPr>
      </p:pic>
      <p:sp>
        <p:nvSpPr>
          <p:cNvPr id="31" name="Text 19"/>
          <p:cNvSpPr txBox="1"/>
          <p:nvPr/>
        </p:nvSpPr>
        <p:spPr>
          <a:xfrm>
            <a:off x="5047488" y="4882896"/>
            <a:ext cx="2651760" cy="384048"/>
          </a:xfrm>
          <a:prstGeom prst="rect">
            <a:avLst/>
          </a:prstGeom>
          <a:noFill/>
          <a:ln/>
        </p:spPr>
        <p:txBody>
          <a:bodyPr wrap="square" lIns="0" tIns="0" rIns="0" bIns="0" rtlCol="0" anchor="ctr"/>
          <a:lstStyle/>
          <a:p>
            <a:pPr indent="0" marL="0">
              <a:buNone/>
            </a:pPr>
            <a:r>
              <a:rPr lang="en-US" sz="1450" b="1" dirty="0">
                <a:solidFill>
                  <a:srgbClr val="17418A"/>
                </a:solidFill>
              </a:rPr>
              <a:t>Trésorerie et banque</a:t>
            </a:r>
            <a:endParaRPr lang="en-US" sz="1450" dirty="0"/>
          </a:p>
        </p:txBody>
      </p:sp>
      <p:sp>
        <p:nvSpPr>
          <p:cNvPr id="32" name="Text 20"/>
          <p:cNvSpPr txBox="1"/>
          <p:nvPr/>
        </p:nvSpPr>
        <p:spPr>
          <a:xfrm>
            <a:off x="4480560" y="5294376"/>
            <a:ext cx="3154680" cy="731520"/>
          </a:xfrm>
          <a:prstGeom prst="rect">
            <a:avLst/>
          </a:prstGeom>
          <a:noFill/>
          <a:ln/>
        </p:spPr>
        <p:txBody>
          <a:bodyPr wrap="square" lIns="0" tIns="0" rIns="0" bIns="0" rtlCol="0" anchor="t"/>
          <a:lstStyle/>
          <a:p>
            <a:pPr indent="0" marL="0">
              <a:buNone/>
            </a:pPr>
            <a:r>
              <a:rPr lang="en-US" sz="1200" dirty="0">
                <a:solidFill>
                  <a:srgbClr val="323230"/>
                </a:solidFill>
              </a:rPr>
              <a:t>Plan des prochains mois, taux du jour, rapprochement des relevés.</a:t>
            </a:r>
            <a:endParaRPr lang="en-US" sz="1200" dirty="0"/>
          </a:p>
        </p:txBody>
      </p:sp>
      <p:sp>
        <p:nvSpPr>
          <p:cNvPr id="33" name="module Rapports et audit"/>
          <p:cNvSpPr/>
          <p:nvPr/>
        </p:nvSpPr>
        <p:spPr>
          <a:xfrm>
            <a:off x="8046720" y="3813048"/>
            <a:ext cx="3520440" cy="2304288"/>
          </a:xfrm>
          <a:prstGeom prst="rect">
            <a:avLst/>
          </a:prstGeom>
          <a:solidFill>
            <a:srgbClr val="F3F5F8"/>
          </a:solidFill>
          <a:ln/>
        </p:spPr>
      </p:sp>
      <p:pic>
        <p:nvPicPr>
          <p:cNvPr id="34" name="Image 10" descr="Rapports et audit">    </p:cNvPr>
          <p:cNvPicPr>
            <a:picLocks noChangeAspect="1"/>
          </p:cNvPicPr>
          <p:nvPr/>
        </p:nvPicPr>
        <p:blipFill>
          <a:blip r:embed="rId11"/>
          <a:srcRect l="0" r="0" t="0" b="0"/>
          <a:stretch/>
        </p:blipFill>
        <p:spPr>
          <a:xfrm>
            <a:off x="8046720" y="3813048"/>
            <a:ext cx="3520440" cy="1005840"/>
          </a:xfrm>
          <a:prstGeom prst="rect">
            <a:avLst/>
          </a:prstGeom>
        </p:spPr>
      </p:pic>
      <p:sp>
        <p:nvSpPr>
          <p:cNvPr id="35" name="pastille"/>
          <p:cNvSpPr/>
          <p:nvPr/>
        </p:nvSpPr>
        <p:spPr>
          <a:xfrm>
            <a:off x="8229600" y="4617720"/>
            <a:ext cx="457200" cy="457200"/>
          </a:xfrm>
          <a:prstGeom prst="ellipse">
            <a:avLst/>
          </a:prstGeom>
          <a:solidFill>
            <a:srgbClr val="17418A"/>
          </a:solidFill>
          <a:ln/>
        </p:spPr>
      </p:sp>
      <p:pic>
        <p:nvPicPr>
          <p:cNvPr id="36" name="icône FaCheckDouble" descr="FaCheckDouble">    </p:cNvPr>
          <p:cNvPicPr>
            <a:picLocks noChangeAspect="1"/>
          </p:cNvPicPr>
          <p:nvPr/>
        </p:nvPicPr>
        <p:blipFill>
          <a:blip r:embed="rId12"/>
          <a:stretch>
            <a:fillRect/>
          </a:stretch>
        </p:blipFill>
        <p:spPr>
          <a:xfrm>
            <a:off x="8339328" y="4727448"/>
            <a:ext cx="237744" cy="237744"/>
          </a:xfrm>
          <a:prstGeom prst="rect">
            <a:avLst/>
          </a:prstGeom>
        </p:spPr>
      </p:pic>
      <p:sp>
        <p:nvSpPr>
          <p:cNvPr id="37" name="Text 23"/>
          <p:cNvSpPr txBox="1"/>
          <p:nvPr/>
        </p:nvSpPr>
        <p:spPr>
          <a:xfrm>
            <a:off x="8796528" y="4882896"/>
            <a:ext cx="2651760" cy="384048"/>
          </a:xfrm>
          <a:prstGeom prst="rect">
            <a:avLst/>
          </a:prstGeom>
          <a:noFill/>
          <a:ln/>
        </p:spPr>
        <p:txBody>
          <a:bodyPr wrap="square" lIns="0" tIns="0" rIns="0" bIns="0" rtlCol="0" anchor="ctr"/>
          <a:lstStyle/>
          <a:p>
            <a:pPr indent="0" marL="0">
              <a:buNone/>
            </a:pPr>
            <a:r>
              <a:rPr lang="en-US" sz="1450" b="1" dirty="0">
                <a:solidFill>
                  <a:srgbClr val="17418A"/>
                </a:solidFill>
              </a:rPr>
              <a:t>Rapports et audit</a:t>
            </a:r>
            <a:endParaRPr lang="en-US" sz="1450" dirty="0"/>
          </a:p>
        </p:txBody>
      </p:sp>
      <p:sp>
        <p:nvSpPr>
          <p:cNvPr id="38" name="Text 24"/>
          <p:cNvSpPr txBox="1"/>
          <p:nvPr/>
        </p:nvSpPr>
        <p:spPr>
          <a:xfrm>
            <a:off x="8229600" y="5294376"/>
            <a:ext cx="3154680" cy="731520"/>
          </a:xfrm>
          <a:prstGeom prst="rect">
            <a:avLst/>
          </a:prstGeom>
          <a:noFill/>
          <a:ln/>
        </p:spPr>
        <p:txBody>
          <a:bodyPr wrap="square" lIns="0" tIns="0" rIns="0" bIns="0" rtlCol="0" anchor="t"/>
          <a:lstStyle/>
          <a:p>
            <a:pPr indent="0" marL="0">
              <a:buNone/>
            </a:pPr>
            <a:r>
              <a:rPr lang="en-US" sz="1200" dirty="0">
                <a:solidFill>
                  <a:srgbClr val="323230"/>
                </a:solidFill>
              </a:rPr>
              <a:t>Rapports officiels authentifiés, journal d’audit, score de risque.</a:t>
            </a:r>
            <a:endParaRPr lang="en-US" sz="12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Utilisable partout, même en province et sans réseau</a:t>
            </a:r>
            <a:endParaRPr lang="en-US" sz="3000" dirty="0"/>
          </a:p>
        </p:txBody>
      </p:sp>
      <p:sp>
        <p:nvSpPr>
          <p:cNvPr id="3" name="téléphone"/>
          <p:cNvSpPr/>
          <p:nvPr/>
        </p:nvSpPr>
        <p:spPr>
          <a:xfrm>
            <a:off x="7223760" y="1280160"/>
            <a:ext cx="2316661" cy="4892040"/>
          </a:xfrm>
          <a:prstGeom prst="roundRect">
            <a:avLst>
              <a:gd name="adj" fmla="val 9868"/>
            </a:avLst>
          </a:prstGeom>
          <a:solidFill>
            <a:srgbClr val="1C1C1E"/>
          </a:solidFill>
          <a:ln/>
          <a:effectLst>
            <a:outerShdw sx="100000" sy="100000" kx="0" ky="0" algn="bl" rotWithShape="0" blurRad="127000" dist="50800" dir="5400000">
              <a:srgbClr val="000000">
                <a:alpha val="25000"/>
              </a:srgbClr>
            </a:outerShdw>
          </a:effectLst>
        </p:spPr>
      </p:sp>
      <p:pic>
        <p:nvPicPr>
          <p:cNvPr id="4" name="écran mobile-accueil.jpg" descr="Accueil d’un service sur téléphone">    </p:cNvPr>
          <p:cNvPicPr>
            <a:picLocks noChangeAspect="1"/>
          </p:cNvPicPr>
          <p:nvPr/>
        </p:nvPicPr>
        <p:blipFill>
          <a:blip r:embed="rId1"/>
          <a:srcRect l="0" r="0" t="0" b="0"/>
          <a:stretch/>
        </p:blipFill>
        <p:spPr>
          <a:xfrm>
            <a:off x="7315200" y="1417320"/>
            <a:ext cx="2133781" cy="4617720"/>
          </a:xfrm>
          <a:prstGeom prst="rect">
            <a:avLst/>
          </a:prstGeom>
        </p:spPr>
      </p:pic>
      <p:sp>
        <p:nvSpPr>
          <p:cNvPr id="5" name="téléphone"/>
          <p:cNvSpPr/>
          <p:nvPr/>
        </p:nvSpPr>
        <p:spPr>
          <a:xfrm>
            <a:off x="9555480" y="1280160"/>
            <a:ext cx="2316661" cy="4892040"/>
          </a:xfrm>
          <a:prstGeom prst="roundRect">
            <a:avLst>
              <a:gd name="adj" fmla="val 9868"/>
            </a:avLst>
          </a:prstGeom>
          <a:solidFill>
            <a:srgbClr val="1C1C1E"/>
          </a:solidFill>
          <a:ln/>
          <a:effectLst>
            <a:outerShdw sx="100000" sy="100000" kx="0" ky="0" algn="bl" rotWithShape="0" blurRad="127000" dist="50800" dir="5400000">
              <a:srgbClr val="000000">
                <a:alpha val="25000"/>
              </a:srgbClr>
            </a:outerShdw>
          </a:effectLst>
        </p:spPr>
      </p:sp>
      <p:pic>
        <p:nvPicPr>
          <p:cNvPr id="6" name="écran mobile-saisie.jpg" descr="Saisie sur téléphone">    </p:cNvPr>
          <p:cNvPicPr>
            <a:picLocks noChangeAspect="1"/>
          </p:cNvPicPr>
          <p:nvPr/>
        </p:nvPicPr>
        <p:blipFill>
          <a:blip r:embed="rId2"/>
          <a:srcRect l="0" r="0" t="0" b="0"/>
          <a:stretch/>
        </p:blipFill>
        <p:spPr>
          <a:xfrm>
            <a:off x="9646920" y="1417320"/>
            <a:ext cx="2133781" cy="4617720"/>
          </a:xfrm>
          <a:prstGeom prst="rect">
            <a:avLst/>
          </a:prstGeom>
        </p:spPr>
      </p:pic>
      <p:sp>
        <p:nvSpPr>
          <p:cNvPr id="7" name="pastille"/>
          <p:cNvSpPr/>
          <p:nvPr/>
        </p:nvSpPr>
        <p:spPr>
          <a:xfrm>
            <a:off x="548640" y="1417320"/>
            <a:ext cx="640080" cy="640080"/>
          </a:xfrm>
          <a:prstGeom prst="ellipse">
            <a:avLst/>
          </a:prstGeom>
          <a:solidFill>
            <a:srgbClr val="0095C9"/>
          </a:solidFill>
          <a:ln/>
        </p:spPr>
      </p:sp>
      <p:pic>
        <p:nvPicPr>
          <p:cNvPr id="8" name="icône FaMobileAlt" descr="FaMobileAlt">    </p:cNvPr>
          <p:cNvPicPr>
            <a:picLocks noChangeAspect="1"/>
          </p:cNvPicPr>
          <p:nvPr/>
        </p:nvPicPr>
        <p:blipFill>
          <a:blip r:embed="rId3"/>
          <a:stretch>
            <a:fillRect/>
          </a:stretch>
        </p:blipFill>
        <p:spPr>
          <a:xfrm>
            <a:off x="702259" y="1570939"/>
            <a:ext cx="332842" cy="332842"/>
          </a:xfrm>
          <a:prstGeom prst="rect">
            <a:avLst/>
          </a:prstGeom>
        </p:spPr>
      </p:pic>
      <p:sp>
        <p:nvSpPr>
          <p:cNvPr id="9" name="Text 4"/>
          <p:cNvSpPr txBox="1"/>
          <p:nvPr/>
        </p:nvSpPr>
        <p:spPr>
          <a:xfrm>
            <a:off x="1417320" y="1417320"/>
            <a:ext cx="5394960" cy="411480"/>
          </a:xfrm>
          <a:prstGeom prst="rect">
            <a:avLst/>
          </a:prstGeom>
          <a:noFill/>
          <a:ln/>
        </p:spPr>
        <p:txBody>
          <a:bodyPr wrap="square" lIns="0" tIns="0" rIns="0" bIns="0" rtlCol="0" anchor="t"/>
          <a:lstStyle/>
          <a:p>
            <a:pPr indent="0" marL="0">
              <a:buNone/>
            </a:pPr>
            <a:r>
              <a:rPr lang="en-US" sz="1700" b="1" dirty="0">
                <a:solidFill>
                  <a:srgbClr val="17418A"/>
                </a:solidFill>
              </a:rPr>
              <a:t>Sur ordinateur ou téléphone</a:t>
            </a:r>
            <a:endParaRPr lang="en-US" sz="1700" dirty="0"/>
          </a:p>
        </p:txBody>
      </p:sp>
      <p:sp>
        <p:nvSpPr>
          <p:cNvPr id="10" name="Text 5"/>
          <p:cNvSpPr txBox="1"/>
          <p:nvPr/>
        </p:nvSpPr>
        <p:spPr>
          <a:xfrm>
            <a:off x="1417320" y="1856232"/>
            <a:ext cx="5394960" cy="914400"/>
          </a:xfrm>
          <a:prstGeom prst="rect">
            <a:avLst/>
          </a:prstGeom>
          <a:noFill/>
          <a:ln/>
        </p:spPr>
        <p:txBody>
          <a:bodyPr wrap="square" lIns="0" tIns="0" rIns="0" bIns="0" rtlCol="0" anchor="t"/>
          <a:lstStyle/>
          <a:p>
            <a:pPr indent="0" marL="0">
              <a:buNone/>
            </a:pPr>
            <a:r>
              <a:rPr lang="en-US" sz="1350" dirty="0">
                <a:solidFill>
                  <a:srgbClr val="323230"/>
                </a:solidFill>
              </a:rPr>
              <a:t>Les écrans s’adaptent ; la pièce se photographie directement et la photo est allégée avant l’envoi.</a:t>
            </a:r>
            <a:endParaRPr lang="en-US" sz="1350" dirty="0"/>
          </a:p>
        </p:txBody>
      </p:sp>
      <p:sp>
        <p:nvSpPr>
          <p:cNvPr id="11" name="pastille"/>
          <p:cNvSpPr/>
          <p:nvPr/>
        </p:nvSpPr>
        <p:spPr>
          <a:xfrm>
            <a:off x="548640" y="2971800"/>
            <a:ext cx="640080" cy="640080"/>
          </a:xfrm>
          <a:prstGeom prst="ellipse">
            <a:avLst/>
          </a:prstGeom>
          <a:solidFill>
            <a:srgbClr val="0095C9"/>
          </a:solidFill>
          <a:ln/>
        </p:spPr>
      </p:sp>
      <p:pic>
        <p:nvPicPr>
          <p:cNvPr id="12" name="icône FaWifi" descr="FaWifi">    </p:cNvPr>
          <p:cNvPicPr>
            <a:picLocks noChangeAspect="1"/>
          </p:cNvPicPr>
          <p:nvPr/>
        </p:nvPicPr>
        <p:blipFill>
          <a:blip r:embed="rId4"/>
          <a:stretch>
            <a:fillRect/>
          </a:stretch>
        </p:blipFill>
        <p:spPr>
          <a:xfrm>
            <a:off x="702259" y="3125419"/>
            <a:ext cx="332842" cy="332842"/>
          </a:xfrm>
          <a:prstGeom prst="rect">
            <a:avLst/>
          </a:prstGeom>
        </p:spPr>
      </p:pic>
      <p:sp>
        <p:nvSpPr>
          <p:cNvPr id="13" name="Text 7"/>
          <p:cNvSpPr txBox="1"/>
          <p:nvPr/>
        </p:nvSpPr>
        <p:spPr>
          <a:xfrm>
            <a:off x="1417320" y="2971800"/>
            <a:ext cx="5394960" cy="411480"/>
          </a:xfrm>
          <a:prstGeom prst="rect">
            <a:avLst/>
          </a:prstGeom>
          <a:noFill/>
          <a:ln/>
        </p:spPr>
        <p:txBody>
          <a:bodyPr wrap="square" lIns="0" tIns="0" rIns="0" bIns="0" rtlCol="0" anchor="t"/>
          <a:lstStyle/>
          <a:p>
            <a:pPr indent="0" marL="0">
              <a:buNone/>
            </a:pPr>
            <a:r>
              <a:rPr lang="en-US" sz="1700" b="1" dirty="0">
                <a:solidFill>
                  <a:srgbClr val="17418A"/>
                </a:solidFill>
              </a:rPr>
              <a:t>Saisie hors connexion</a:t>
            </a:r>
            <a:endParaRPr lang="en-US" sz="1700" dirty="0"/>
          </a:p>
        </p:txBody>
      </p:sp>
      <p:sp>
        <p:nvSpPr>
          <p:cNvPr id="14" name="Text 8"/>
          <p:cNvSpPr txBox="1"/>
          <p:nvPr/>
        </p:nvSpPr>
        <p:spPr>
          <a:xfrm>
            <a:off x="1417320" y="3410712"/>
            <a:ext cx="5394960" cy="914400"/>
          </a:xfrm>
          <a:prstGeom prst="rect">
            <a:avLst/>
          </a:prstGeom>
          <a:noFill/>
          <a:ln/>
        </p:spPr>
        <p:txBody>
          <a:bodyPr wrap="square" lIns="0" tIns="0" rIns="0" bIns="0" rtlCol="0" anchor="t"/>
          <a:lstStyle/>
          <a:p>
            <a:pPr indent="0" marL="0">
              <a:buNone/>
            </a:pPr>
            <a:r>
              <a:rPr lang="en-US" sz="1350" dirty="0">
                <a:solidFill>
                  <a:srgbClr val="323230"/>
                </a:solidFill>
              </a:rPr>
              <a:t>Sans réseau, les écritures sont gardées sur le téléphone et envoyées automatiquement au retour de la connexion, sans doublon.</a:t>
            </a:r>
            <a:endParaRPr lang="en-US" sz="1350" dirty="0"/>
          </a:p>
        </p:txBody>
      </p:sp>
      <p:sp>
        <p:nvSpPr>
          <p:cNvPr id="15" name="pastille"/>
          <p:cNvSpPr/>
          <p:nvPr/>
        </p:nvSpPr>
        <p:spPr>
          <a:xfrm>
            <a:off x="548640" y="4526280"/>
            <a:ext cx="640080" cy="640080"/>
          </a:xfrm>
          <a:prstGeom prst="ellipse">
            <a:avLst/>
          </a:prstGeom>
          <a:solidFill>
            <a:srgbClr val="0095C9"/>
          </a:solidFill>
          <a:ln/>
        </p:spPr>
      </p:sp>
      <p:pic>
        <p:nvPicPr>
          <p:cNvPr id="16" name="icône FaCloud" descr="FaCloud">    </p:cNvPr>
          <p:cNvPicPr>
            <a:picLocks noChangeAspect="1"/>
          </p:cNvPicPr>
          <p:nvPr/>
        </p:nvPicPr>
        <p:blipFill>
          <a:blip r:embed="rId5"/>
          <a:stretch>
            <a:fillRect/>
          </a:stretch>
        </p:blipFill>
        <p:spPr>
          <a:xfrm>
            <a:off x="702259" y="4679899"/>
            <a:ext cx="332842" cy="332842"/>
          </a:xfrm>
          <a:prstGeom prst="rect">
            <a:avLst/>
          </a:prstGeom>
        </p:spPr>
      </p:pic>
      <p:sp>
        <p:nvSpPr>
          <p:cNvPr id="17" name="Text 10"/>
          <p:cNvSpPr txBox="1"/>
          <p:nvPr/>
        </p:nvSpPr>
        <p:spPr>
          <a:xfrm>
            <a:off x="1417320" y="4526280"/>
            <a:ext cx="5394960" cy="411480"/>
          </a:xfrm>
          <a:prstGeom prst="rect">
            <a:avLst/>
          </a:prstGeom>
          <a:noFill/>
          <a:ln/>
        </p:spPr>
        <p:txBody>
          <a:bodyPr wrap="square" lIns="0" tIns="0" rIns="0" bIns="0" rtlCol="0" anchor="t"/>
          <a:lstStyle/>
          <a:p>
            <a:pPr indent="0" marL="0">
              <a:buNone/>
            </a:pPr>
            <a:r>
              <a:rPr lang="en-US" sz="1700" b="1" dirty="0">
                <a:solidFill>
                  <a:srgbClr val="17418A"/>
                </a:solidFill>
              </a:rPr>
              <a:t>Aucune installation</a:t>
            </a:r>
            <a:endParaRPr lang="en-US" sz="1700" dirty="0"/>
          </a:p>
        </p:txBody>
      </p:sp>
      <p:sp>
        <p:nvSpPr>
          <p:cNvPr id="18" name="Text 11"/>
          <p:cNvSpPr txBox="1"/>
          <p:nvPr/>
        </p:nvSpPr>
        <p:spPr>
          <a:xfrm>
            <a:off x="1417320" y="4965192"/>
            <a:ext cx="5394960" cy="914400"/>
          </a:xfrm>
          <a:prstGeom prst="rect">
            <a:avLst/>
          </a:prstGeom>
          <a:noFill/>
          <a:ln/>
        </p:spPr>
        <p:txBody>
          <a:bodyPr wrap="square" lIns="0" tIns="0" rIns="0" bIns="0" rtlCol="0" anchor="t"/>
          <a:lstStyle/>
          <a:p>
            <a:pPr indent="0" marL="0">
              <a:buNone/>
            </a:pPr>
            <a:r>
              <a:rPr lang="en-US" sz="1350" dirty="0">
                <a:solidFill>
                  <a:srgbClr val="323230"/>
                </a:solidFill>
              </a:rPr>
              <a:t>Un navigateur suffit ; l’application peut être ajoutée à l’écran d’accueil du téléphone.</a:t>
            </a:r>
            <a:endParaRPr lang="en-US" sz="135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Sécurité et traçabilité dès la conception</a:t>
            </a:r>
            <a:endParaRPr lang="en-US" sz="3000" dirty="0"/>
          </a:p>
        </p:txBody>
      </p:sp>
      <p:sp>
        <p:nvSpPr>
          <p:cNvPr id="3" name="pastille"/>
          <p:cNvSpPr/>
          <p:nvPr/>
        </p:nvSpPr>
        <p:spPr>
          <a:xfrm>
            <a:off x="548640" y="1371600"/>
            <a:ext cx="658368" cy="658368"/>
          </a:xfrm>
          <a:prstGeom prst="ellipse">
            <a:avLst/>
          </a:prstGeom>
          <a:solidFill>
            <a:srgbClr val="17418A"/>
          </a:solidFill>
          <a:ln/>
        </p:spPr>
      </p:sp>
      <p:pic>
        <p:nvPicPr>
          <p:cNvPr id="4" name="icône FaUserLock" descr="FaUserLock">    </p:cNvPr>
          <p:cNvPicPr>
            <a:picLocks noChangeAspect="1"/>
          </p:cNvPicPr>
          <p:nvPr/>
        </p:nvPicPr>
        <p:blipFill>
          <a:blip r:embed="rId1"/>
          <a:stretch>
            <a:fillRect/>
          </a:stretch>
        </p:blipFill>
        <p:spPr>
          <a:xfrm>
            <a:off x="706648" y="1529608"/>
            <a:ext cx="342351" cy="342351"/>
          </a:xfrm>
          <a:prstGeom prst="rect">
            <a:avLst/>
          </a:prstGeom>
        </p:spPr>
      </p:pic>
      <p:sp>
        <p:nvSpPr>
          <p:cNvPr id="5" name="Text 2"/>
          <p:cNvSpPr txBox="1"/>
          <p:nvPr/>
        </p:nvSpPr>
        <p:spPr>
          <a:xfrm>
            <a:off x="1417320" y="137160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Comptes nominatifs</a:t>
            </a:r>
            <a:endParaRPr lang="en-US" sz="1700" dirty="0"/>
          </a:p>
        </p:txBody>
      </p:sp>
      <p:sp>
        <p:nvSpPr>
          <p:cNvPr id="6" name="Text 3"/>
          <p:cNvSpPr txBox="1"/>
          <p:nvPr/>
        </p:nvSpPr>
        <p:spPr>
          <a:xfrm>
            <a:off x="1417320" y="1810512"/>
            <a:ext cx="4572000" cy="960120"/>
          </a:xfrm>
          <a:prstGeom prst="rect">
            <a:avLst/>
          </a:prstGeom>
          <a:noFill/>
          <a:ln/>
        </p:spPr>
        <p:txBody>
          <a:bodyPr wrap="square" lIns="0" tIns="0" rIns="0" bIns="0" rtlCol="0" anchor="t"/>
          <a:lstStyle/>
          <a:p>
            <a:pPr indent="0" marL="0">
              <a:buNone/>
            </a:pPr>
            <a:r>
              <a:rPr lang="en-US" sz="1350" dirty="0">
                <a:solidFill>
                  <a:srgbClr val="323230"/>
                </a:solidFill>
              </a:rPr>
              <a:t>Un compte par personne, un profil, un service ; revue trimestrielle des comptes.</a:t>
            </a:r>
            <a:endParaRPr lang="en-US" sz="1350" dirty="0"/>
          </a:p>
        </p:txBody>
      </p:sp>
      <p:sp>
        <p:nvSpPr>
          <p:cNvPr id="7" name="pastille"/>
          <p:cNvSpPr/>
          <p:nvPr/>
        </p:nvSpPr>
        <p:spPr>
          <a:xfrm>
            <a:off x="6217920" y="1371600"/>
            <a:ext cx="658368" cy="658368"/>
          </a:xfrm>
          <a:prstGeom prst="ellipse">
            <a:avLst/>
          </a:prstGeom>
          <a:solidFill>
            <a:srgbClr val="0095C9"/>
          </a:solidFill>
          <a:ln/>
        </p:spPr>
      </p:sp>
      <p:pic>
        <p:nvPicPr>
          <p:cNvPr id="8" name="icône FaLock" descr="FaLock">    </p:cNvPr>
          <p:cNvPicPr>
            <a:picLocks noChangeAspect="1"/>
          </p:cNvPicPr>
          <p:nvPr/>
        </p:nvPicPr>
        <p:blipFill>
          <a:blip r:embed="rId2"/>
          <a:stretch>
            <a:fillRect/>
          </a:stretch>
        </p:blipFill>
        <p:spPr>
          <a:xfrm>
            <a:off x="6375928" y="1529608"/>
            <a:ext cx="342351" cy="342351"/>
          </a:xfrm>
          <a:prstGeom prst="rect">
            <a:avLst/>
          </a:prstGeom>
        </p:spPr>
      </p:pic>
      <p:sp>
        <p:nvSpPr>
          <p:cNvPr id="9" name="Text 5"/>
          <p:cNvSpPr txBox="1"/>
          <p:nvPr/>
        </p:nvSpPr>
        <p:spPr>
          <a:xfrm>
            <a:off x="7086600" y="137160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Double authentification</a:t>
            </a:r>
            <a:endParaRPr lang="en-US" sz="1700" dirty="0"/>
          </a:p>
        </p:txBody>
      </p:sp>
      <p:sp>
        <p:nvSpPr>
          <p:cNvPr id="10" name="Text 6"/>
          <p:cNvSpPr txBox="1"/>
          <p:nvPr/>
        </p:nvSpPr>
        <p:spPr>
          <a:xfrm>
            <a:off x="7086600" y="1810512"/>
            <a:ext cx="4572000" cy="960120"/>
          </a:xfrm>
          <a:prstGeom prst="rect">
            <a:avLst/>
          </a:prstGeom>
          <a:noFill/>
          <a:ln/>
        </p:spPr>
        <p:txBody>
          <a:bodyPr wrap="square" lIns="0" tIns="0" rIns="0" bIns="0" rtlCol="0" anchor="t"/>
          <a:lstStyle/>
          <a:p>
            <a:pPr indent="0" marL="0">
              <a:buNone/>
            </a:pPr>
            <a:r>
              <a:rPr lang="en-US" sz="1350" dirty="0">
                <a:solidFill>
                  <a:srgbClr val="323230"/>
                </a:solidFill>
              </a:rPr>
              <a:t>Obligatoire pour Administration et Finance ; verrouillage après 5 essais, déconnexion après 30 minutes d’inactivité.</a:t>
            </a:r>
            <a:endParaRPr lang="en-US" sz="1350" dirty="0"/>
          </a:p>
        </p:txBody>
      </p:sp>
      <p:sp>
        <p:nvSpPr>
          <p:cNvPr id="11" name="pastille"/>
          <p:cNvSpPr/>
          <p:nvPr/>
        </p:nvSpPr>
        <p:spPr>
          <a:xfrm>
            <a:off x="548640" y="2971800"/>
            <a:ext cx="658368" cy="658368"/>
          </a:xfrm>
          <a:prstGeom prst="ellipse">
            <a:avLst/>
          </a:prstGeom>
          <a:solidFill>
            <a:srgbClr val="17418A"/>
          </a:solidFill>
          <a:ln/>
        </p:spPr>
      </p:sp>
      <p:pic>
        <p:nvPicPr>
          <p:cNvPr id="12" name="icône FaBan" descr="FaBan">    </p:cNvPr>
          <p:cNvPicPr>
            <a:picLocks noChangeAspect="1"/>
          </p:cNvPicPr>
          <p:nvPr/>
        </p:nvPicPr>
        <p:blipFill>
          <a:blip r:embed="rId3"/>
          <a:stretch>
            <a:fillRect/>
          </a:stretch>
        </p:blipFill>
        <p:spPr>
          <a:xfrm>
            <a:off x="706648" y="3129808"/>
            <a:ext cx="342351" cy="342351"/>
          </a:xfrm>
          <a:prstGeom prst="rect">
            <a:avLst/>
          </a:prstGeom>
        </p:spPr>
      </p:pic>
      <p:sp>
        <p:nvSpPr>
          <p:cNvPr id="13" name="Text 8"/>
          <p:cNvSpPr txBox="1"/>
          <p:nvPr/>
        </p:nvSpPr>
        <p:spPr>
          <a:xfrm>
            <a:off x="1417320" y="297180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Rien ne s’efface</a:t>
            </a:r>
            <a:endParaRPr lang="en-US" sz="1700" dirty="0"/>
          </a:p>
        </p:txBody>
      </p:sp>
      <p:sp>
        <p:nvSpPr>
          <p:cNvPr id="14" name="Text 9"/>
          <p:cNvSpPr txBox="1"/>
          <p:nvPr/>
        </p:nvSpPr>
        <p:spPr>
          <a:xfrm>
            <a:off x="1417320" y="3410712"/>
            <a:ext cx="4572000" cy="960120"/>
          </a:xfrm>
          <a:prstGeom prst="rect">
            <a:avLst/>
          </a:prstGeom>
          <a:noFill/>
          <a:ln/>
        </p:spPr>
        <p:txBody>
          <a:bodyPr wrap="square" lIns="0" tIns="0" rIns="0" bIns="0" rtlCol="0" anchor="t"/>
          <a:lstStyle/>
          <a:p>
            <a:pPr indent="0" marL="0">
              <a:buNone/>
            </a:pPr>
            <a:r>
              <a:rPr lang="en-US" sz="1350" dirty="0">
                <a:solidFill>
                  <a:srgbClr val="323230"/>
                </a:solidFill>
              </a:rPr>
              <a:t>Une écriture ne se modifie ni ne se supprime ; une erreur se corrige par contrepassation motivée.</a:t>
            </a:r>
            <a:endParaRPr lang="en-US" sz="1350" dirty="0"/>
          </a:p>
        </p:txBody>
      </p:sp>
      <p:sp>
        <p:nvSpPr>
          <p:cNvPr id="15" name="pastille"/>
          <p:cNvSpPr/>
          <p:nvPr/>
        </p:nvSpPr>
        <p:spPr>
          <a:xfrm>
            <a:off x="6217920" y="2971800"/>
            <a:ext cx="658368" cy="658368"/>
          </a:xfrm>
          <a:prstGeom prst="ellipse">
            <a:avLst/>
          </a:prstGeom>
          <a:solidFill>
            <a:srgbClr val="0095C9"/>
          </a:solidFill>
          <a:ln/>
        </p:spPr>
      </p:sp>
      <p:pic>
        <p:nvPicPr>
          <p:cNvPr id="16" name="icône FaUsers" descr="FaUsers">    </p:cNvPr>
          <p:cNvPicPr>
            <a:picLocks noChangeAspect="1"/>
          </p:cNvPicPr>
          <p:nvPr/>
        </p:nvPicPr>
        <p:blipFill>
          <a:blip r:embed="rId4"/>
          <a:stretch>
            <a:fillRect/>
          </a:stretch>
        </p:blipFill>
        <p:spPr>
          <a:xfrm>
            <a:off x="6375928" y="3129808"/>
            <a:ext cx="342351" cy="342351"/>
          </a:xfrm>
          <a:prstGeom prst="rect">
            <a:avLst/>
          </a:prstGeom>
        </p:spPr>
      </p:pic>
      <p:sp>
        <p:nvSpPr>
          <p:cNvPr id="17" name="Text 11"/>
          <p:cNvSpPr txBox="1"/>
          <p:nvPr/>
        </p:nvSpPr>
        <p:spPr>
          <a:xfrm>
            <a:off x="7086600" y="297180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Séparation des tâches</a:t>
            </a:r>
            <a:endParaRPr lang="en-US" sz="1700" dirty="0"/>
          </a:p>
        </p:txBody>
      </p:sp>
      <p:sp>
        <p:nvSpPr>
          <p:cNvPr id="18" name="Text 12"/>
          <p:cNvSpPr txBox="1"/>
          <p:nvPr/>
        </p:nvSpPr>
        <p:spPr>
          <a:xfrm>
            <a:off x="7086600" y="3410712"/>
            <a:ext cx="4572000" cy="960120"/>
          </a:xfrm>
          <a:prstGeom prst="rect">
            <a:avLst/>
          </a:prstGeom>
          <a:noFill/>
          <a:ln/>
        </p:spPr>
        <p:txBody>
          <a:bodyPr wrap="square" lIns="0" tIns="0" rIns="0" bIns="0" rtlCol="0" anchor="t"/>
          <a:lstStyle/>
          <a:p>
            <a:pPr indent="0" marL="0">
              <a:buNone/>
            </a:pPr>
            <a:r>
              <a:rPr lang="en-US" sz="1350" dirty="0">
                <a:solidFill>
                  <a:srgbClr val="323230"/>
                </a:solidFill>
              </a:rPr>
              <a:t>Celui qui saisit ne valide pas ; l’agent qui compte la caisse ne contresigne pas l’arrêté.</a:t>
            </a:r>
            <a:endParaRPr lang="en-US" sz="1350" dirty="0"/>
          </a:p>
        </p:txBody>
      </p:sp>
      <p:sp>
        <p:nvSpPr>
          <p:cNvPr id="19" name="pastille"/>
          <p:cNvSpPr/>
          <p:nvPr/>
        </p:nvSpPr>
        <p:spPr>
          <a:xfrm>
            <a:off x="548640" y="4572000"/>
            <a:ext cx="658368" cy="658368"/>
          </a:xfrm>
          <a:prstGeom prst="ellipse">
            <a:avLst/>
          </a:prstGeom>
          <a:solidFill>
            <a:srgbClr val="17418A"/>
          </a:solidFill>
          <a:ln/>
        </p:spPr>
      </p:sp>
      <p:pic>
        <p:nvPicPr>
          <p:cNvPr id="20" name="icône FaHistory" descr="FaHistory">    </p:cNvPr>
          <p:cNvPicPr>
            <a:picLocks noChangeAspect="1"/>
          </p:cNvPicPr>
          <p:nvPr/>
        </p:nvPicPr>
        <p:blipFill>
          <a:blip r:embed="rId5"/>
          <a:stretch>
            <a:fillRect/>
          </a:stretch>
        </p:blipFill>
        <p:spPr>
          <a:xfrm>
            <a:off x="706648" y="4730008"/>
            <a:ext cx="342351" cy="342351"/>
          </a:xfrm>
          <a:prstGeom prst="rect">
            <a:avLst/>
          </a:prstGeom>
        </p:spPr>
      </p:pic>
      <p:sp>
        <p:nvSpPr>
          <p:cNvPr id="21" name="Text 14"/>
          <p:cNvSpPr txBox="1"/>
          <p:nvPr/>
        </p:nvSpPr>
        <p:spPr>
          <a:xfrm>
            <a:off x="1417320" y="457200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Journal d’audit infalsifiable</a:t>
            </a:r>
            <a:endParaRPr lang="en-US" sz="1700" dirty="0"/>
          </a:p>
        </p:txBody>
      </p:sp>
      <p:sp>
        <p:nvSpPr>
          <p:cNvPr id="22" name="Text 15"/>
          <p:cNvSpPr txBox="1"/>
          <p:nvPr/>
        </p:nvSpPr>
        <p:spPr>
          <a:xfrm>
            <a:off x="1417320" y="5010912"/>
            <a:ext cx="4572000" cy="960120"/>
          </a:xfrm>
          <a:prstGeom prst="rect">
            <a:avLst/>
          </a:prstGeom>
          <a:noFill/>
          <a:ln/>
        </p:spPr>
        <p:txBody>
          <a:bodyPr wrap="square" lIns="0" tIns="0" rIns="0" bIns="0" rtlCol="0" anchor="t"/>
          <a:lstStyle/>
          <a:p>
            <a:pPr indent="0" marL="0">
              <a:buNone/>
            </a:pPr>
            <a:r>
              <a:rPr lang="en-US" sz="1350" dirty="0">
                <a:solidFill>
                  <a:srgbClr val="323230"/>
                </a:solidFill>
              </a:rPr>
              <a:t>Chaque action sensible est enregistrée : qui, quoi, quand, avant et après.</a:t>
            </a:r>
            <a:endParaRPr lang="en-US" sz="1350" dirty="0"/>
          </a:p>
        </p:txBody>
      </p:sp>
      <p:sp>
        <p:nvSpPr>
          <p:cNvPr id="23" name="pastille"/>
          <p:cNvSpPr/>
          <p:nvPr/>
        </p:nvSpPr>
        <p:spPr>
          <a:xfrm>
            <a:off x="6217920" y="4572000"/>
            <a:ext cx="658368" cy="658368"/>
          </a:xfrm>
          <a:prstGeom prst="ellipse">
            <a:avLst/>
          </a:prstGeom>
          <a:solidFill>
            <a:srgbClr val="0095C9"/>
          </a:solidFill>
          <a:ln/>
        </p:spPr>
      </p:sp>
      <p:pic>
        <p:nvPicPr>
          <p:cNvPr id="24" name="icône FaQrcode" descr="FaQrcode">    </p:cNvPr>
          <p:cNvPicPr>
            <a:picLocks noChangeAspect="1"/>
          </p:cNvPicPr>
          <p:nvPr/>
        </p:nvPicPr>
        <p:blipFill>
          <a:blip r:embed="rId6"/>
          <a:stretch>
            <a:fillRect/>
          </a:stretch>
        </p:blipFill>
        <p:spPr>
          <a:xfrm>
            <a:off x="6375928" y="4730008"/>
            <a:ext cx="342351" cy="342351"/>
          </a:xfrm>
          <a:prstGeom prst="rect">
            <a:avLst/>
          </a:prstGeom>
        </p:spPr>
      </p:pic>
      <p:sp>
        <p:nvSpPr>
          <p:cNvPr id="25" name="Text 17"/>
          <p:cNvSpPr txBox="1"/>
          <p:nvPr/>
        </p:nvSpPr>
        <p:spPr>
          <a:xfrm>
            <a:off x="7086600" y="4572000"/>
            <a:ext cx="4572000" cy="411480"/>
          </a:xfrm>
          <a:prstGeom prst="rect">
            <a:avLst/>
          </a:prstGeom>
          <a:noFill/>
          <a:ln/>
        </p:spPr>
        <p:txBody>
          <a:bodyPr wrap="square" lIns="0" tIns="0" rIns="0" bIns="0" rtlCol="0" anchor="t"/>
          <a:lstStyle/>
          <a:p>
            <a:pPr indent="0" marL="0">
              <a:buNone/>
            </a:pPr>
            <a:r>
              <a:rPr lang="en-US" sz="1700" b="1" dirty="0">
                <a:solidFill>
                  <a:srgbClr val="17418A"/>
                </a:solidFill>
              </a:rPr>
              <a:t>Documents authentifiables</a:t>
            </a:r>
            <a:endParaRPr lang="en-US" sz="1700" dirty="0"/>
          </a:p>
        </p:txBody>
      </p:sp>
      <p:sp>
        <p:nvSpPr>
          <p:cNvPr id="26" name="Text 18"/>
          <p:cNvSpPr txBox="1"/>
          <p:nvPr/>
        </p:nvSpPr>
        <p:spPr>
          <a:xfrm>
            <a:off x="7086600" y="5010912"/>
            <a:ext cx="4572000" cy="960120"/>
          </a:xfrm>
          <a:prstGeom prst="rect">
            <a:avLst/>
          </a:prstGeom>
          <a:noFill/>
          <a:ln/>
        </p:spPr>
        <p:txBody>
          <a:bodyPr wrap="square" lIns="0" tIns="0" rIns="0" bIns="0" rtlCol="0" anchor="t"/>
          <a:lstStyle/>
          <a:p>
            <a:pPr indent="0" marL="0">
              <a:buNone/>
            </a:pPr>
            <a:r>
              <a:rPr lang="en-US" sz="1350" dirty="0">
                <a:solidFill>
                  <a:srgbClr val="323230"/>
                </a:solidFill>
              </a:rPr>
              <a:t>Rapports et procès-verbaux portent une référence unique et un code QR vérifiable par tous.</a:t>
            </a:r>
            <a:endParaRPr lang="en-US" sz="135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stille"/>
          <p:cNvSpPr/>
          <p:nvPr/>
        </p:nvSpPr>
        <p:spPr>
          <a:xfrm>
            <a:off x="731520" y="1188720"/>
            <a:ext cx="914400" cy="914400"/>
          </a:xfrm>
          <a:prstGeom prst="ellipse">
            <a:avLst/>
          </a:prstGeom>
          <a:solidFill>
            <a:srgbClr val="0095C9"/>
          </a:solidFill>
          <a:ln/>
        </p:spPr>
      </p:sp>
      <p:pic>
        <p:nvPicPr>
          <p:cNvPr id="3" name="icône FaPlay" descr="FaPlay">    </p:cNvPr>
          <p:cNvPicPr>
            <a:picLocks noChangeAspect="1"/>
          </p:cNvPicPr>
          <p:nvPr/>
        </p:nvPicPr>
        <p:blipFill>
          <a:blip r:embed="rId1"/>
          <a:stretch>
            <a:fillRect/>
          </a:stretch>
        </p:blipFill>
        <p:spPr>
          <a:xfrm>
            <a:off x="950976" y="1408176"/>
            <a:ext cx="475488" cy="475488"/>
          </a:xfrm>
          <a:prstGeom prst="rect">
            <a:avLst/>
          </a:prstGeom>
        </p:spPr>
      </p:pic>
      <p:sp>
        <p:nvSpPr>
          <p:cNvPr id="4" name="Text 3"/>
          <p:cNvSpPr/>
          <p:nvPr>
            <p:ph idx="103" type="title" hasCustomPrompt="1"/>
          </p:nvPr>
        </p:nvSpPr>
        <p:spPr>
          <a:xfrm>
            <a:off x="731520" y="2286000"/>
            <a:ext cx="8046720" cy="1554480"/>
          </a:xfrm>
          <a:prstGeom prst="rect">
            <a:avLst/>
          </a:prstGeom>
          <a:noFill/>
          <a:ln/>
        </p:spPr>
        <p:txBody>
          <a:bodyPr wrap="square" lIns="0" tIns="0" rIns="0" bIns="0" rtlCol="0" anchor="b"/>
          <a:lstStyle/>
          <a:p>
            <a:pPr algn="l" indent="0" marL="0">
              <a:buNone/>
            </a:pPr>
            <a:r>
              <a:rPr lang="en-US" sz="4000" b="1" dirty="0">
                <a:solidFill>
                  <a:schemeClr val="bg1"/>
                </a:solidFill>
              </a:rPr>
              <a:t>Démonstration en direct</a:t>
            </a:r>
            <a:endParaRPr lang="en-US" sz="4000" dirty="0"/>
          </a:p>
        </p:txBody>
      </p:sp>
      <p:sp>
        <p:nvSpPr>
          <p:cNvPr id="5" name="Text 3"/>
          <p:cNvSpPr/>
          <p:nvPr>
            <p:ph idx="104" type="body" hasCustomPrompt="1"/>
          </p:nvPr>
        </p:nvSpPr>
        <p:spPr>
          <a:xfrm>
            <a:off x="731520" y="4069080"/>
            <a:ext cx="8046720" cy="1371600"/>
          </a:xfrm>
          <a:prstGeom prst="rect">
            <a:avLst/>
          </a:prstGeom>
          <a:noFill/>
          <a:ln/>
        </p:spPr>
        <p:txBody>
          <a:bodyPr wrap="square" lIns="0" tIns="0" rIns="0" bIns="0" rtlCol="0" anchor="t"/>
          <a:lstStyle/>
          <a:p>
            <a:pPr algn="l" indent="0" marL="0">
              <a:buNone/>
            </a:pPr>
            <a:r>
              <a:rPr lang="en-US" sz="2000" dirty="0">
                <a:solidFill>
                  <a:schemeClr val="bg1"/>
                </a:solidFill>
              </a:rPr>
              <a:t>10 minutes, 6 temps forts : de la dépense saisie au téléphone jusqu’au rapport officiel vérifié par code QR</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Le scénario de la démonstration</a:t>
            </a:r>
            <a:endParaRPr lang="en-US" sz="3000" dirty="0"/>
          </a:p>
        </p:txBody>
      </p:sp>
      <p:sp>
        <p:nvSpPr>
          <p:cNvPr id="3" name="Text 1"/>
          <p:cNvSpPr txBox="1"/>
          <p:nvPr/>
        </p:nvSpPr>
        <p:spPr>
          <a:xfrm>
            <a:off x="548640" y="1325880"/>
            <a:ext cx="502920" cy="320040"/>
          </a:xfrm>
          <a:prstGeom prst="rect">
            <a:avLst/>
          </a:prstGeom>
          <a:noFill/>
          <a:ln/>
        </p:spPr>
        <p:txBody>
          <a:bodyPr wrap="square" lIns="0" tIns="0" rIns="0" bIns="0" rtlCol="0" anchor="t"/>
          <a:lstStyle/>
          <a:p>
            <a:pPr indent="0" marL="0">
              <a:buNone/>
            </a:pPr>
            <a:endParaRPr lang="en-US" sz="1200" dirty="0"/>
          </a:p>
        </p:txBody>
      </p:sp>
      <p:sp>
        <p:nvSpPr>
          <p:cNvPr id="4" name="Text 2"/>
          <p:cNvSpPr txBox="1"/>
          <p:nvPr/>
        </p:nvSpPr>
        <p:spPr>
          <a:xfrm>
            <a:off x="1143000" y="1325880"/>
            <a:ext cx="3291840" cy="320040"/>
          </a:xfrm>
          <a:prstGeom prst="rect">
            <a:avLst/>
          </a:prstGeom>
          <a:noFill/>
          <a:ln/>
        </p:spPr>
        <p:txBody>
          <a:bodyPr wrap="square" lIns="0" tIns="0" rIns="0" bIns="0" rtlCol="0" anchor="t"/>
          <a:lstStyle/>
          <a:p>
            <a:pPr indent="0" marL="0">
              <a:buNone/>
            </a:pPr>
            <a:r>
              <a:rPr lang="en-US" sz="1200" b="1" dirty="0">
                <a:solidFill>
                  <a:srgbClr val="5D6670"/>
                </a:solidFill>
              </a:rPr>
              <a:t>Temps fort</a:t>
            </a:r>
            <a:endParaRPr lang="en-US" sz="1200" dirty="0"/>
          </a:p>
        </p:txBody>
      </p:sp>
      <p:sp>
        <p:nvSpPr>
          <p:cNvPr id="5" name="Text 3"/>
          <p:cNvSpPr txBox="1"/>
          <p:nvPr/>
        </p:nvSpPr>
        <p:spPr>
          <a:xfrm>
            <a:off x="4572000" y="1325880"/>
            <a:ext cx="2286000" cy="320040"/>
          </a:xfrm>
          <a:prstGeom prst="rect">
            <a:avLst/>
          </a:prstGeom>
          <a:noFill/>
          <a:ln/>
        </p:spPr>
        <p:txBody>
          <a:bodyPr wrap="square" lIns="0" tIns="0" rIns="0" bIns="0" rtlCol="0" anchor="t"/>
          <a:lstStyle/>
          <a:p>
            <a:pPr indent="0" marL="0">
              <a:buNone/>
            </a:pPr>
            <a:r>
              <a:rPr lang="en-US" sz="1200" b="1" dirty="0">
                <a:solidFill>
                  <a:srgbClr val="5D6670"/>
                </a:solidFill>
              </a:rPr>
              <a:t>Qui</a:t>
            </a:r>
            <a:endParaRPr lang="en-US" sz="1200" dirty="0"/>
          </a:p>
        </p:txBody>
      </p:sp>
      <p:sp>
        <p:nvSpPr>
          <p:cNvPr id="6" name="Text 4"/>
          <p:cNvSpPr txBox="1"/>
          <p:nvPr/>
        </p:nvSpPr>
        <p:spPr>
          <a:xfrm>
            <a:off x="6949440" y="1325880"/>
            <a:ext cx="3611880" cy="320040"/>
          </a:xfrm>
          <a:prstGeom prst="rect">
            <a:avLst/>
          </a:prstGeom>
          <a:noFill/>
          <a:ln/>
        </p:spPr>
        <p:txBody>
          <a:bodyPr wrap="square" lIns="0" tIns="0" rIns="0" bIns="0" rtlCol="0" anchor="t"/>
          <a:lstStyle/>
          <a:p>
            <a:pPr indent="0" marL="0">
              <a:buNone/>
            </a:pPr>
            <a:r>
              <a:rPr lang="en-US" sz="1200" b="1" dirty="0">
                <a:solidFill>
                  <a:srgbClr val="5D6670"/>
                </a:solidFill>
              </a:rPr>
              <a:t>Ce qu’on montre</a:t>
            </a:r>
            <a:endParaRPr lang="en-US" sz="1200" dirty="0"/>
          </a:p>
        </p:txBody>
      </p:sp>
      <p:sp>
        <p:nvSpPr>
          <p:cNvPr id="7" name="Text 5"/>
          <p:cNvSpPr txBox="1"/>
          <p:nvPr/>
        </p:nvSpPr>
        <p:spPr>
          <a:xfrm>
            <a:off x="10652760" y="1325880"/>
            <a:ext cx="1005840" cy="320040"/>
          </a:xfrm>
          <a:prstGeom prst="rect">
            <a:avLst/>
          </a:prstGeom>
          <a:noFill/>
          <a:ln/>
        </p:spPr>
        <p:txBody>
          <a:bodyPr wrap="square" lIns="0" tIns="0" rIns="0" bIns="0" rtlCol="0" anchor="t"/>
          <a:lstStyle/>
          <a:p>
            <a:pPr indent="0" marL="0">
              <a:buNone/>
            </a:pPr>
            <a:r>
              <a:rPr lang="en-US" sz="1200" b="1" dirty="0">
                <a:solidFill>
                  <a:srgbClr val="5D6670"/>
                </a:solidFill>
              </a:rPr>
              <a:t>Durée</a:t>
            </a:r>
            <a:endParaRPr lang="en-US" sz="1200" dirty="0"/>
          </a:p>
        </p:txBody>
      </p:sp>
      <p:sp>
        <p:nvSpPr>
          <p:cNvPr id="8" name="Shape 6"/>
          <p:cNvSpPr/>
          <p:nvPr/>
        </p:nvSpPr>
        <p:spPr>
          <a:xfrm>
            <a:off x="548640" y="1719072"/>
            <a:ext cx="11109960" cy="621792"/>
          </a:xfrm>
          <a:prstGeom prst="rect">
            <a:avLst/>
          </a:prstGeom>
          <a:solidFill>
            <a:srgbClr val="F3F5F8"/>
          </a:solidFill>
          <a:ln/>
        </p:spPr>
      </p:sp>
      <p:sp>
        <p:nvSpPr>
          <p:cNvPr id="9" name="Shape 7"/>
          <p:cNvSpPr/>
          <p:nvPr/>
        </p:nvSpPr>
        <p:spPr>
          <a:xfrm>
            <a:off x="621792" y="1828800"/>
            <a:ext cx="402336" cy="402336"/>
          </a:xfrm>
          <a:prstGeom prst="ellipse">
            <a:avLst/>
          </a:prstGeom>
          <a:solidFill>
            <a:srgbClr val="17418A"/>
          </a:solidFill>
          <a:ln/>
        </p:spPr>
      </p:sp>
      <p:sp>
        <p:nvSpPr>
          <p:cNvPr id="10" name="Text 8"/>
          <p:cNvSpPr txBox="1"/>
          <p:nvPr/>
        </p:nvSpPr>
        <p:spPr>
          <a:xfrm>
            <a:off x="621792" y="18288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9"/>
          <p:cNvSpPr txBox="1"/>
          <p:nvPr/>
        </p:nvSpPr>
        <p:spPr>
          <a:xfrm>
            <a:off x="1143000" y="1719072"/>
            <a:ext cx="3291840" cy="621792"/>
          </a:xfrm>
          <a:prstGeom prst="rect">
            <a:avLst/>
          </a:prstGeom>
          <a:noFill/>
          <a:ln/>
        </p:spPr>
        <p:txBody>
          <a:bodyPr wrap="square" lIns="0" tIns="0" rIns="0" bIns="0" rtlCol="0" anchor="ctr"/>
          <a:lstStyle/>
          <a:p>
            <a:pPr indent="0" marL="0">
              <a:buNone/>
            </a:pPr>
            <a:r>
              <a:rPr lang="en-US" sz="1450" b="1" dirty="0">
                <a:solidFill>
                  <a:srgbClr val="17418A"/>
                </a:solidFill>
              </a:rPr>
              <a:t>Saisir une dépense au téléphone</a:t>
            </a:r>
            <a:endParaRPr lang="en-US" sz="1450" dirty="0"/>
          </a:p>
        </p:txBody>
      </p:sp>
      <p:sp>
        <p:nvSpPr>
          <p:cNvPr id="12" name="Text 10"/>
          <p:cNvSpPr txBox="1"/>
          <p:nvPr/>
        </p:nvSpPr>
        <p:spPr>
          <a:xfrm>
            <a:off x="4572000" y="1719072"/>
            <a:ext cx="2286000" cy="621792"/>
          </a:xfrm>
          <a:prstGeom prst="rect">
            <a:avLst/>
          </a:prstGeom>
          <a:noFill/>
          <a:ln/>
        </p:spPr>
        <p:txBody>
          <a:bodyPr wrap="square" lIns="0" tIns="0" rIns="0" bIns="0" rtlCol="0" anchor="ctr"/>
          <a:lstStyle/>
          <a:p>
            <a:pPr indent="0" marL="0">
              <a:buNone/>
            </a:pPr>
            <a:r>
              <a:rPr lang="en-US" sz="1300" dirty="0">
                <a:solidFill>
                  <a:srgbClr val="323230"/>
                </a:solidFill>
              </a:rPr>
              <a:t>Agent du service</a:t>
            </a:r>
            <a:endParaRPr lang="en-US" sz="1300" dirty="0"/>
          </a:p>
        </p:txBody>
      </p:sp>
      <p:sp>
        <p:nvSpPr>
          <p:cNvPr id="13" name="Text 11"/>
          <p:cNvSpPr txBox="1"/>
          <p:nvPr/>
        </p:nvSpPr>
        <p:spPr>
          <a:xfrm>
            <a:off x="6949440" y="1719072"/>
            <a:ext cx="3611880" cy="621792"/>
          </a:xfrm>
          <a:prstGeom prst="rect">
            <a:avLst/>
          </a:prstGeom>
          <a:noFill/>
          <a:ln/>
        </p:spPr>
        <p:txBody>
          <a:bodyPr wrap="square" lIns="0" tIns="0" rIns="0" bIns="0" rtlCol="0" anchor="ctr"/>
          <a:lstStyle/>
          <a:p>
            <a:pPr indent="0" marL="0">
              <a:buNone/>
            </a:pPr>
            <a:r>
              <a:rPr lang="en-US" sz="1300" dirty="0">
                <a:solidFill>
                  <a:srgbClr val="323230"/>
                </a:solidFill>
              </a:rPr>
              <a:t>Photo de la facture, contrôles en direct, numéro attribué</a:t>
            </a:r>
            <a:endParaRPr lang="en-US" sz="1300" dirty="0"/>
          </a:p>
        </p:txBody>
      </p:sp>
      <p:sp>
        <p:nvSpPr>
          <p:cNvPr id="14" name="Text 12"/>
          <p:cNvSpPr txBox="1"/>
          <p:nvPr/>
        </p:nvSpPr>
        <p:spPr>
          <a:xfrm>
            <a:off x="10652760" y="1719072"/>
            <a:ext cx="1005840" cy="621792"/>
          </a:xfrm>
          <a:prstGeom prst="rect">
            <a:avLst/>
          </a:prstGeom>
          <a:noFill/>
          <a:ln/>
        </p:spPr>
        <p:txBody>
          <a:bodyPr wrap="square" lIns="0" tIns="0" rIns="0" bIns="0" rtlCol="0" anchor="ctr"/>
          <a:lstStyle/>
          <a:p>
            <a:pPr algn="r" indent="0" marL="0">
              <a:buNone/>
            </a:pPr>
            <a:r>
              <a:rPr lang="en-US" sz="1400" b="1" dirty="0">
                <a:solidFill>
                  <a:srgbClr val="0095C9"/>
                </a:solidFill>
              </a:rPr>
              <a:t>2 min</a:t>
            </a:r>
            <a:endParaRPr lang="en-US" sz="1400" dirty="0"/>
          </a:p>
        </p:txBody>
      </p:sp>
      <p:sp>
        <p:nvSpPr>
          <p:cNvPr id="15" name="Shape 13"/>
          <p:cNvSpPr/>
          <p:nvPr/>
        </p:nvSpPr>
        <p:spPr>
          <a:xfrm>
            <a:off x="548640" y="2450592"/>
            <a:ext cx="11109960" cy="621792"/>
          </a:xfrm>
          <a:prstGeom prst="rect">
            <a:avLst/>
          </a:prstGeom>
          <a:solidFill>
            <a:srgbClr val="FFFFFF"/>
          </a:solidFill>
          <a:ln/>
        </p:spPr>
      </p:sp>
      <p:sp>
        <p:nvSpPr>
          <p:cNvPr id="16" name="Shape 14"/>
          <p:cNvSpPr/>
          <p:nvPr/>
        </p:nvSpPr>
        <p:spPr>
          <a:xfrm>
            <a:off x="621792" y="2560320"/>
            <a:ext cx="402336" cy="402336"/>
          </a:xfrm>
          <a:prstGeom prst="ellipse">
            <a:avLst/>
          </a:prstGeom>
          <a:solidFill>
            <a:srgbClr val="17418A"/>
          </a:solidFill>
          <a:ln/>
        </p:spPr>
      </p:sp>
      <p:sp>
        <p:nvSpPr>
          <p:cNvPr id="17" name="Text 15"/>
          <p:cNvSpPr txBox="1"/>
          <p:nvPr/>
        </p:nvSpPr>
        <p:spPr>
          <a:xfrm>
            <a:off x="621792"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txBox="1"/>
          <p:nvPr/>
        </p:nvSpPr>
        <p:spPr>
          <a:xfrm>
            <a:off x="1143000" y="2450592"/>
            <a:ext cx="3291840" cy="621792"/>
          </a:xfrm>
          <a:prstGeom prst="rect">
            <a:avLst/>
          </a:prstGeom>
          <a:noFill/>
          <a:ln/>
        </p:spPr>
        <p:txBody>
          <a:bodyPr wrap="square" lIns="0" tIns="0" rIns="0" bIns="0" rtlCol="0" anchor="ctr"/>
          <a:lstStyle/>
          <a:p>
            <a:pPr indent="0" marL="0">
              <a:buNone/>
            </a:pPr>
            <a:r>
              <a:rPr lang="en-US" sz="1450" b="1" dirty="0">
                <a:solidFill>
                  <a:srgbClr val="17418A"/>
                </a:solidFill>
              </a:rPr>
              <a:t>Voir un contrôle bloquer une erreur</a:t>
            </a:r>
            <a:endParaRPr lang="en-US" sz="1450" dirty="0"/>
          </a:p>
        </p:txBody>
      </p:sp>
      <p:sp>
        <p:nvSpPr>
          <p:cNvPr id="19" name="Text 17"/>
          <p:cNvSpPr txBox="1"/>
          <p:nvPr/>
        </p:nvSpPr>
        <p:spPr>
          <a:xfrm>
            <a:off x="4572000" y="2450592"/>
            <a:ext cx="2286000" cy="621792"/>
          </a:xfrm>
          <a:prstGeom prst="rect">
            <a:avLst/>
          </a:prstGeom>
          <a:noFill/>
          <a:ln/>
        </p:spPr>
        <p:txBody>
          <a:bodyPr wrap="square" lIns="0" tIns="0" rIns="0" bIns="0" rtlCol="0" anchor="ctr"/>
          <a:lstStyle/>
          <a:p>
            <a:pPr indent="0" marL="0">
              <a:buNone/>
            </a:pPr>
            <a:r>
              <a:rPr lang="en-US" sz="1300" dirty="0">
                <a:solidFill>
                  <a:srgbClr val="323230"/>
                </a:solidFill>
              </a:rPr>
              <a:t>Agent du service</a:t>
            </a:r>
            <a:endParaRPr lang="en-US" sz="1300" dirty="0"/>
          </a:p>
        </p:txBody>
      </p:sp>
      <p:sp>
        <p:nvSpPr>
          <p:cNvPr id="20" name="Text 18"/>
          <p:cNvSpPr txBox="1"/>
          <p:nvPr/>
        </p:nvSpPr>
        <p:spPr>
          <a:xfrm>
            <a:off x="6949440" y="2450592"/>
            <a:ext cx="3611880" cy="621792"/>
          </a:xfrm>
          <a:prstGeom prst="rect">
            <a:avLst/>
          </a:prstGeom>
          <a:noFill/>
          <a:ln/>
        </p:spPr>
        <p:txBody>
          <a:bodyPr wrap="square" lIns="0" tIns="0" rIns="0" bIns="0" rtlCol="0" anchor="ctr"/>
          <a:lstStyle/>
          <a:p>
            <a:pPr indent="0" marL="0">
              <a:buNone/>
            </a:pPr>
            <a:r>
              <a:rPr lang="en-US" sz="1300" dirty="0">
                <a:solidFill>
                  <a:srgbClr val="323230"/>
                </a:solidFill>
              </a:rPr>
              <a:t>Paiement en espèces au-delà du plafond refusé</a:t>
            </a:r>
            <a:endParaRPr lang="en-US" sz="1300" dirty="0"/>
          </a:p>
        </p:txBody>
      </p:sp>
      <p:sp>
        <p:nvSpPr>
          <p:cNvPr id="21" name="Text 19"/>
          <p:cNvSpPr txBox="1"/>
          <p:nvPr/>
        </p:nvSpPr>
        <p:spPr>
          <a:xfrm>
            <a:off x="10652760" y="2450592"/>
            <a:ext cx="1005840" cy="621792"/>
          </a:xfrm>
          <a:prstGeom prst="rect">
            <a:avLst/>
          </a:prstGeom>
          <a:noFill/>
          <a:ln/>
        </p:spPr>
        <p:txBody>
          <a:bodyPr wrap="square" lIns="0" tIns="0" rIns="0" bIns="0" rtlCol="0" anchor="ctr"/>
          <a:lstStyle/>
          <a:p>
            <a:pPr algn="r" indent="0" marL="0">
              <a:buNone/>
            </a:pPr>
            <a:r>
              <a:rPr lang="en-US" sz="1400" b="1" dirty="0">
                <a:solidFill>
                  <a:srgbClr val="0095C9"/>
                </a:solidFill>
              </a:rPr>
              <a:t>1 min</a:t>
            </a:r>
            <a:endParaRPr lang="en-US" sz="1400" dirty="0"/>
          </a:p>
        </p:txBody>
      </p:sp>
      <p:sp>
        <p:nvSpPr>
          <p:cNvPr id="22" name="Shape 20"/>
          <p:cNvSpPr/>
          <p:nvPr/>
        </p:nvSpPr>
        <p:spPr>
          <a:xfrm>
            <a:off x="548640" y="3182112"/>
            <a:ext cx="11109960" cy="621792"/>
          </a:xfrm>
          <a:prstGeom prst="rect">
            <a:avLst/>
          </a:prstGeom>
          <a:solidFill>
            <a:srgbClr val="F3F5F8"/>
          </a:solidFill>
          <a:ln/>
        </p:spPr>
      </p:sp>
      <p:sp>
        <p:nvSpPr>
          <p:cNvPr id="23" name="Shape 21"/>
          <p:cNvSpPr/>
          <p:nvPr/>
        </p:nvSpPr>
        <p:spPr>
          <a:xfrm>
            <a:off x="621792" y="3291840"/>
            <a:ext cx="402336" cy="402336"/>
          </a:xfrm>
          <a:prstGeom prst="ellipse">
            <a:avLst/>
          </a:prstGeom>
          <a:solidFill>
            <a:srgbClr val="17418A"/>
          </a:solidFill>
          <a:ln/>
        </p:spPr>
      </p:sp>
      <p:sp>
        <p:nvSpPr>
          <p:cNvPr id="24" name="Text 22"/>
          <p:cNvSpPr txBox="1"/>
          <p:nvPr/>
        </p:nvSpPr>
        <p:spPr>
          <a:xfrm>
            <a:off x="621792" y="32918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5" name="Text 23"/>
          <p:cNvSpPr txBox="1"/>
          <p:nvPr/>
        </p:nvSpPr>
        <p:spPr>
          <a:xfrm>
            <a:off x="1143000" y="3182112"/>
            <a:ext cx="3291840" cy="621792"/>
          </a:xfrm>
          <a:prstGeom prst="rect">
            <a:avLst/>
          </a:prstGeom>
          <a:noFill/>
          <a:ln/>
        </p:spPr>
        <p:txBody>
          <a:bodyPr wrap="square" lIns="0" tIns="0" rIns="0" bIns="0" rtlCol="0" anchor="ctr"/>
          <a:lstStyle/>
          <a:p>
            <a:pPr indent="0" marL="0">
              <a:buNone/>
            </a:pPr>
            <a:r>
              <a:rPr lang="en-US" sz="1450" b="1" dirty="0">
                <a:solidFill>
                  <a:srgbClr val="17418A"/>
                </a:solidFill>
              </a:rPr>
              <a:t>Transmettre, puis vérifier</a:t>
            </a:r>
            <a:endParaRPr lang="en-US" sz="1450" dirty="0"/>
          </a:p>
        </p:txBody>
      </p:sp>
      <p:sp>
        <p:nvSpPr>
          <p:cNvPr id="26" name="Text 24"/>
          <p:cNvSpPr txBox="1"/>
          <p:nvPr/>
        </p:nvSpPr>
        <p:spPr>
          <a:xfrm>
            <a:off x="4572000" y="3182112"/>
            <a:ext cx="2286000" cy="621792"/>
          </a:xfrm>
          <a:prstGeom prst="rect">
            <a:avLst/>
          </a:prstGeom>
          <a:noFill/>
          <a:ln/>
        </p:spPr>
        <p:txBody>
          <a:bodyPr wrap="square" lIns="0" tIns="0" rIns="0" bIns="0" rtlCol="0" anchor="ctr"/>
          <a:lstStyle/>
          <a:p>
            <a:pPr indent="0" marL="0">
              <a:buNone/>
            </a:pPr>
            <a:r>
              <a:rPr lang="en-US" sz="1300" dirty="0">
                <a:solidFill>
                  <a:srgbClr val="323230"/>
                </a:solidFill>
              </a:rPr>
              <a:t>Agent, puis A&amp;F</a:t>
            </a:r>
            <a:endParaRPr lang="en-US" sz="1300" dirty="0"/>
          </a:p>
        </p:txBody>
      </p:sp>
      <p:sp>
        <p:nvSpPr>
          <p:cNvPr id="27" name="Text 25"/>
          <p:cNvSpPr txBox="1"/>
          <p:nvPr/>
        </p:nvSpPr>
        <p:spPr>
          <a:xfrm>
            <a:off x="6949440" y="3182112"/>
            <a:ext cx="3611880" cy="621792"/>
          </a:xfrm>
          <a:prstGeom prst="rect">
            <a:avLst/>
          </a:prstGeom>
          <a:noFill/>
          <a:ln/>
        </p:spPr>
        <p:txBody>
          <a:bodyPr wrap="square" lIns="0" tIns="0" rIns="0" bIns="0" rtlCol="0" anchor="ctr"/>
          <a:lstStyle/>
          <a:p>
            <a:pPr indent="0" marL="0">
              <a:buNone/>
            </a:pPr>
            <a:r>
              <a:rPr lang="en-US" sz="1300" dirty="0">
                <a:solidFill>
                  <a:srgbClr val="323230"/>
                </a:solidFill>
              </a:rPr>
              <a:t>Pièce ouverte, question au service, validation</a:t>
            </a:r>
            <a:endParaRPr lang="en-US" sz="1300" dirty="0"/>
          </a:p>
        </p:txBody>
      </p:sp>
      <p:sp>
        <p:nvSpPr>
          <p:cNvPr id="28" name="Text 26"/>
          <p:cNvSpPr txBox="1"/>
          <p:nvPr/>
        </p:nvSpPr>
        <p:spPr>
          <a:xfrm>
            <a:off x="10652760" y="3182112"/>
            <a:ext cx="1005840" cy="621792"/>
          </a:xfrm>
          <a:prstGeom prst="rect">
            <a:avLst/>
          </a:prstGeom>
          <a:noFill/>
          <a:ln/>
        </p:spPr>
        <p:txBody>
          <a:bodyPr wrap="square" lIns="0" tIns="0" rIns="0" bIns="0" rtlCol="0" anchor="ctr"/>
          <a:lstStyle/>
          <a:p>
            <a:pPr algn="r" indent="0" marL="0">
              <a:buNone/>
            </a:pPr>
            <a:r>
              <a:rPr lang="en-US" sz="1400" b="1" dirty="0">
                <a:solidFill>
                  <a:srgbClr val="0095C9"/>
                </a:solidFill>
              </a:rPr>
              <a:t>2 min</a:t>
            </a:r>
            <a:endParaRPr lang="en-US" sz="1400" dirty="0"/>
          </a:p>
        </p:txBody>
      </p:sp>
      <p:sp>
        <p:nvSpPr>
          <p:cNvPr id="29" name="Shape 27"/>
          <p:cNvSpPr/>
          <p:nvPr/>
        </p:nvSpPr>
        <p:spPr>
          <a:xfrm>
            <a:off x="548640" y="3913632"/>
            <a:ext cx="11109960" cy="621792"/>
          </a:xfrm>
          <a:prstGeom prst="rect">
            <a:avLst/>
          </a:prstGeom>
          <a:solidFill>
            <a:srgbClr val="FFFFFF"/>
          </a:solidFill>
          <a:ln/>
        </p:spPr>
      </p:sp>
      <p:sp>
        <p:nvSpPr>
          <p:cNvPr id="30" name="Shape 28"/>
          <p:cNvSpPr/>
          <p:nvPr/>
        </p:nvSpPr>
        <p:spPr>
          <a:xfrm>
            <a:off x="621792" y="4023360"/>
            <a:ext cx="402336" cy="402336"/>
          </a:xfrm>
          <a:prstGeom prst="ellipse">
            <a:avLst/>
          </a:prstGeom>
          <a:solidFill>
            <a:srgbClr val="17418A"/>
          </a:solidFill>
          <a:ln/>
        </p:spPr>
      </p:sp>
      <p:sp>
        <p:nvSpPr>
          <p:cNvPr id="31" name="Text 29"/>
          <p:cNvSpPr txBox="1"/>
          <p:nvPr/>
        </p:nvSpPr>
        <p:spPr>
          <a:xfrm>
            <a:off x="621792" y="4023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2" name="Text 30"/>
          <p:cNvSpPr txBox="1"/>
          <p:nvPr/>
        </p:nvSpPr>
        <p:spPr>
          <a:xfrm>
            <a:off x="1143000" y="3913632"/>
            <a:ext cx="3291840" cy="621792"/>
          </a:xfrm>
          <a:prstGeom prst="rect">
            <a:avLst/>
          </a:prstGeom>
          <a:noFill/>
          <a:ln/>
        </p:spPr>
        <p:txBody>
          <a:bodyPr wrap="square" lIns="0" tIns="0" rIns="0" bIns="0" rtlCol="0" anchor="ctr"/>
          <a:lstStyle/>
          <a:p>
            <a:pPr indent="0" marL="0">
              <a:buNone/>
            </a:pPr>
            <a:r>
              <a:rPr lang="en-US" sz="1450" b="1" dirty="0">
                <a:solidFill>
                  <a:srgbClr val="17418A"/>
                </a:solidFill>
              </a:rPr>
              <a:t>Le tableau de bord se met à jour</a:t>
            </a:r>
            <a:endParaRPr lang="en-US" sz="1450" dirty="0"/>
          </a:p>
        </p:txBody>
      </p:sp>
      <p:sp>
        <p:nvSpPr>
          <p:cNvPr id="33" name="Text 31"/>
          <p:cNvSpPr txBox="1"/>
          <p:nvPr/>
        </p:nvSpPr>
        <p:spPr>
          <a:xfrm>
            <a:off x="4572000" y="3913632"/>
            <a:ext cx="2286000" cy="621792"/>
          </a:xfrm>
          <a:prstGeom prst="rect">
            <a:avLst/>
          </a:prstGeom>
          <a:noFill/>
          <a:ln/>
        </p:spPr>
        <p:txBody>
          <a:bodyPr wrap="square" lIns="0" tIns="0" rIns="0" bIns="0" rtlCol="0" anchor="ctr"/>
          <a:lstStyle/>
          <a:p>
            <a:pPr indent="0" marL="0">
              <a:buNone/>
            </a:pPr>
            <a:r>
              <a:rPr lang="en-US" sz="1300" dirty="0">
                <a:solidFill>
                  <a:srgbClr val="323230"/>
                </a:solidFill>
              </a:rPr>
              <a:t>A&amp;F</a:t>
            </a:r>
            <a:endParaRPr lang="en-US" sz="1300" dirty="0"/>
          </a:p>
        </p:txBody>
      </p:sp>
      <p:sp>
        <p:nvSpPr>
          <p:cNvPr id="34" name="Text 32"/>
          <p:cNvSpPr txBox="1"/>
          <p:nvPr/>
        </p:nvSpPr>
        <p:spPr>
          <a:xfrm>
            <a:off x="6949440" y="3913632"/>
            <a:ext cx="3611880" cy="621792"/>
          </a:xfrm>
          <a:prstGeom prst="rect">
            <a:avLst/>
          </a:prstGeom>
          <a:noFill/>
          <a:ln/>
        </p:spPr>
        <p:txBody>
          <a:bodyPr wrap="square" lIns="0" tIns="0" rIns="0" bIns="0" rtlCol="0" anchor="ctr"/>
          <a:lstStyle/>
          <a:p>
            <a:pPr indent="0" marL="0">
              <a:buNone/>
            </a:pPr>
            <a:r>
              <a:rPr lang="en-US" sz="1300" dirty="0">
                <a:solidFill>
                  <a:srgbClr val="323230"/>
                </a:solidFill>
              </a:rPr>
              <a:t>Budget, caisse, alertes recalculés à la validation</a:t>
            </a:r>
            <a:endParaRPr lang="en-US" sz="1300" dirty="0"/>
          </a:p>
        </p:txBody>
      </p:sp>
      <p:sp>
        <p:nvSpPr>
          <p:cNvPr id="35" name="Text 33"/>
          <p:cNvSpPr txBox="1"/>
          <p:nvPr/>
        </p:nvSpPr>
        <p:spPr>
          <a:xfrm>
            <a:off x="10652760" y="3913632"/>
            <a:ext cx="1005840" cy="621792"/>
          </a:xfrm>
          <a:prstGeom prst="rect">
            <a:avLst/>
          </a:prstGeom>
          <a:noFill/>
          <a:ln/>
        </p:spPr>
        <p:txBody>
          <a:bodyPr wrap="square" lIns="0" tIns="0" rIns="0" bIns="0" rtlCol="0" anchor="ctr"/>
          <a:lstStyle/>
          <a:p>
            <a:pPr algn="r" indent="0" marL="0">
              <a:buNone/>
            </a:pPr>
            <a:r>
              <a:rPr lang="en-US" sz="1400" b="1" dirty="0">
                <a:solidFill>
                  <a:srgbClr val="0095C9"/>
                </a:solidFill>
              </a:rPr>
              <a:t>1 min</a:t>
            </a:r>
            <a:endParaRPr lang="en-US" sz="1400" dirty="0"/>
          </a:p>
        </p:txBody>
      </p:sp>
      <p:sp>
        <p:nvSpPr>
          <p:cNvPr id="36" name="Shape 34"/>
          <p:cNvSpPr/>
          <p:nvPr/>
        </p:nvSpPr>
        <p:spPr>
          <a:xfrm>
            <a:off x="548640" y="4645152"/>
            <a:ext cx="11109960" cy="621792"/>
          </a:xfrm>
          <a:prstGeom prst="rect">
            <a:avLst/>
          </a:prstGeom>
          <a:solidFill>
            <a:srgbClr val="F3F5F8"/>
          </a:solidFill>
          <a:ln/>
        </p:spPr>
      </p:sp>
      <p:sp>
        <p:nvSpPr>
          <p:cNvPr id="37" name="Shape 35"/>
          <p:cNvSpPr/>
          <p:nvPr/>
        </p:nvSpPr>
        <p:spPr>
          <a:xfrm>
            <a:off x="621792" y="4754880"/>
            <a:ext cx="402336" cy="402336"/>
          </a:xfrm>
          <a:prstGeom prst="ellipse">
            <a:avLst/>
          </a:prstGeom>
          <a:solidFill>
            <a:srgbClr val="17418A"/>
          </a:solidFill>
          <a:ln/>
        </p:spPr>
      </p:sp>
      <p:sp>
        <p:nvSpPr>
          <p:cNvPr id="38" name="Text 36"/>
          <p:cNvSpPr txBox="1"/>
          <p:nvPr/>
        </p:nvSpPr>
        <p:spPr>
          <a:xfrm>
            <a:off x="621792" y="4754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9" name="Text 37"/>
          <p:cNvSpPr txBox="1"/>
          <p:nvPr/>
        </p:nvSpPr>
        <p:spPr>
          <a:xfrm>
            <a:off x="1143000" y="4645152"/>
            <a:ext cx="3291840" cy="621792"/>
          </a:xfrm>
          <a:prstGeom prst="rect">
            <a:avLst/>
          </a:prstGeom>
          <a:noFill/>
          <a:ln/>
        </p:spPr>
        <p:txBody>
          <a:bodyPr wrap="square" lIns="0" tIns="0" rIns="0" bIns="0" rtlCol="0" anchor="ctr"/>
          <a:lstStyle/>
          <a:p>
            <a:pPr indent="0" marL="0">
              <a:buNone/>
            </a:pPr>
            <a:r>
              <a:rPr lang="en-US" sz="1450" b="1" dirty="0">
                <a:solidFill>
                  <a:srgbClr val="17418A"/>
                </a:solidFill>
              </a:rPr>
              <a:t>Viser une demande de fonds</a:t>
            </a:r>
            <a:endParaRPr lang="en-US" sz="1450" dirty="0"/>
          </a:p>
        </p:txBody>
      </p:sp>
      <p:sp>
        <p:nvSpPr>
          <p:cNvPr id="40" name="Text 38"/>
          <p:cNvSpPr txBox="1"/>
          <p:nvPr/>
        </p:nvSpPr>
        <p:spPr>
          <a:xfrm>
            <a:off x="4572000" y="4645152"/>
            <a:ext cx="2286000" cy="621792"/>
          </a:xfrm>
          <a:prstGeom prst="rect">
            <a:avLst/>
          </a:prstGeom>
          <a:noFill/>
          <a:ln/>
        </p:spPr>
        <p:txBody>
          <a:bodyPr wrap="square" lIns="0" tIns="0" rIns="0" bIns="0" rtlCol="0" anchor="ctr"/>
          <a:lstStyle/>
          <a:p>
            <a:pPr indent="0" marL="0">
              <a:buNone/>
            </a:pPr>
            <a:r>
              <a:rPr lang="en-US" sz="1300" dirty="0">
                <a:solidFill>
                  <a:srgbClr val="323230"/>
                </a:solidFill>
              </a:rPr>
              <a:t>Inspecteur Général</a:t>
            </a:r>
            <a:endParaRPr lang="en-US" sz="1300" dirty="0"/>
          </a:p>
        </p:txBody>
      </p:sp>
      <p:sp>
        <p:nvSpPr>
          <p:cNvPr id="41" name="Text 39"/>
          <p:cNvSpPr txBox="1"/>
          <p:nvPr/>
        </p:nvSpPr>
        <p:spPr>
          <a:xfrm>
            <a:off x="6949440" y="4645152"/>
            <a:ext cx="3611880" cy="621792"/>
          </a:xfrm>
          <a:prstGeom prst="rect">
            <a:avLst/>
          </a:prstGeom>
          <a:noFill/>
          <a:ln/>
        </p:spPr>
        <p:txBody>
          <a:bodyPr wrap="square" lIns="0" tIns="0" rIns="0" bIns="0" rtlCol="0" anchor="ctr"/>
          <a:lstStyle/>
          <a:p>
            <a:pPr indent="0" marL="0">
              <a:buNone/>
            </a:pPr>
            <a:r>
              <a:rPr lang="en-US" sz="1300" dirty="0">
                <a:solidFill>
                  <a:srgbClr val="323230"/>
                </a:solidFill>
              </a:rPr>
              <a:t>Visa sur téléphone d’une demande de 6 000 000 CDF</a:t>
            </a:r>
            <a:endParaRPr lang="en-US" sz="1300" dirty="0"/>
          </a:p>
        </p:txBody>
      </p:sp>
      <p:sp>
        <p:nvSpPr>
          <p:cNvPr id="42" name="Text 40"/>
          <p:cNvSpPr txBox="1"/>
          <p:nvPr/>
        </p:nvSpPr>
        <p:spPr>
          <a:xfrm>
            <a:off x="10652760" y="4645152"/>
            <a:ext cx="1005840" cy="621792"/>
          </a:xfrm>
          <a:prstGeom prst="rect">
            <a:avLst/>
          </a:prstGeom>
          <a:noFill/>
          <a:ln/>
        </p:spPr>
        <p:txBody>
          <a:bodyPr wrap="square" lIns="0" tIns="0" rIns="0" bIns="0" rtlCol="0" anchor="ctr"/>
          <a:lstStyle/>
          <a:p>
            <a:pPr algn="r" indent="0" marL="0">
              <a:buNone/>
            </a:pPr>
            <a:r>
              <a:rPr lang="en-US" sz="1400" b="1" dirty="0">
                <a:solidFill>
                  <a:srgbClr val="0095C9"/>
                </a:solidFill>
              </a:rPr>
              <a:t>2 min</a:t>
            </a:r>
            <a:endParaRPr lang="en-US" sz="1400" dirty="0"/>
          </a:p>
        </p:txBody>
      </p:sp>
      <p:sp>
        <p:nvSpPr>
          <p:cNvPr id="43" name="Shape 41"/>
          <p:cNvSpPr/>
          <p:nvPr/>
        </p:nvSpPr>
        <p:spPr>
          <a:xfrm>
            <a:off x="548640" y="5376672"/>
            <a:ext cx="11109960" cy="621792"/>
          </a:xfrm>
          <a:prstGeom prst="rect">
            <a:avLst/>
          </a:prstGeom>
          <a:solidFill>
            <a:srgbClr val="FFFFFF"/>
          </a:solidFill>
          <a:ln/>
        </p:spPr>
      </p:sp>
      <p:sp>
        <p:nvSpPr>
          <p:cNvPr id="44" name="Shape 42"/>
          <p:cNvSpPr/>
          <p:nvPr/>
        </p:nvSpPr>
        <p:spPr>
          <a:xfrm>
            <a:off x="621792" y="5486400"/>
            <a:ext cx="402336" cy="402336"/>
          </a:xfrm>
          <a:prstGeom prst="ellipse">
            <a:avLst/>
          </a:prstGeom>
          <a:solidFill>
            <a:srgbClr val="17418A"/>
          </a:solidFill>
          <a:ln/>
        </p:spPr>
      </p:sp>
      <p:sp>
        <p:nvSpPr>
          <p:cNvPr id="45" name="Text 43"/>
          <p:cNvSpPr txBox="1"/>
          <p:nvPr/>
        </p:nvSpPr>
        <p:spPr>
          <a:xfrm>
            <a:off x="621792" y="54864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46" name="Text 44"/>
          <p:cNvSpPr txBox="1"/>
          <p:nvPr/>
        </p:nvSpPr>
        <p:spPr>
          <a:xfrm>
            <a:off x="1143000" y="5376672"/>
            <a:ext cx="3291840" cy="621792"/>
          </a:xfrm>
          <a:prstGeom prst="rect">
            <a:avLst/>
          </a:prstGeom>
          <a:noFill/>
          <a:ln/>
        </p:spPr>
        <p:txBody>
          <a:bodyPr wrap="square" lIns="0" tIns="0" rIns="0" bIns="0" rtlCol="0" anchor="ctr"/>
          <a:lstStyle/>
          <a:p>
            <a:pPr indent="0" marL="0">
              <a:buNone/>
            </a:pPr>
            <a:r>
              <a:rPr lang="en-US" sz="1450" b="1" dirty="0">
                <a:solidFill>
                  <a:srgbClr val="17418A"/>
                </a:solidFill>
              </a:rPr>
              <a:t>Émettre et authentifier un rapport</a:t>
            </a:r>
            <a:endParaRPr lang="en-US" sz="1450" dirty="0"/>
          </a:p>
        </p:txBody>
      </p:sp>
      <p:sp>
        <p:nvSpPr>
          <p:cNvPr id="47" name="Text 45"/>
          <p:cNvSpPr txBox="1"/>
          <p:nvPr/>
        </p:nvSpPr>
        <p:spPr>
          <a:xfrm>
            <a:off x="4572000" y="5376672"/>
            <a:ext cx="2286000" cy="621792"/>
          </a:xfrm>
          <a:prstGeom prst="rect">
            <a:avLst/>
          </a:prstGeom>
          <a:noFill/>
          <a:ln/>
        </p:spPr>
        <p:txBody>
          <a:bodyPr wrap="square" lIns="0" tIns="0" rIns="0" bIns="0" rtlCol="0" anchor="ctr"/>
          <a:lstStyle/>
          <a:p>
            <a:pPr indent="0" marL="0">
              <a:buNone/>
            </a:pPr>
            <a:r>
              <a:rPr lang="en-US" sz="1300" dirty="0">
                <a:solidFill>
                  <a:srgbClr val="323230"/>
                </a:solidFill>
              </a:rPr>
              <a:t>A&amp;F, puis tout public</a:t>
            </a:r>
            <a:endParaRPr lang="en-US" sz="1300" dirty="0"/>
          </a:p>
        </p:txBody>
      </p:sp>
      <p:sp>
        <p:nvSpPr>
          <p:cNvPr id="48" name="Text 46"/>
          <p:cNvSpPr txBox="1"/>
          <p:nvPr/>
        </p:nvSpPr>
        <p:spPr>
          <a:xfrm>
            <a:off x="6949440" y="5376672"/>
            <a:ext cx="3611880" cy="621792"/>
          </a:xfrm>
          <a:prstGeom prst="rect">
            <a:avLst/>
          </a:prstGeom>
          <a:noFill/>
          <a:ln/>
        </p:spPr>
        <p:txBody>
          <a:bodyPr wrap="square" lIns="0" tIns="0" rIns="0" bIns="0" rtlCol="0" anchor="ctr"/>
          <a:lstStyle/>
          <a:p>
            <a:pPr indent="0" marL="0">
              <a:buNone/>
            </a:pPr>
            <a:r>
              <a:rPr lang="en-US" sz="1300" dirty="0">
                <a:solidFill>
                  <a:srgbClr val="323230"/>
                </a:solidFill>
              </a:rPr>
              <a:t>Rapport officiel en PDF, code QR scanné</a:t>
            </a:r>
            <a:endParaRPr lang="en-US" sz="1300" dirty="0"/>
          </a:p>
        </p:txBody>
      </p:sp>
      <p:sp>
        <p:nvSpPr>
          <p:cNvPr id="49" name="Text 47"/>
          <p:cNvSpPr txBox="1"/>
          <p:nvPr/>
        </p:nvSpPr>
        <p:spPr>
          <a:xfrm>
            <a:off x="10652760" y="5376672"/>
            <a:ext cx="1005840" cy="621792"/>
          </a:xfrm>
          <a:prstGeom prst="rect">
            <a:avLst/>
          </a:prstGeom>
          <a:noFill/>
          <a:ln/>
        </p:spPr>
        <p:txBody>
          <a:bodyPr wrap="square" lIns="0" tIns="0" rIns="0" bIns="0" rtlCol="0" anchor="ctr"/>
          <a:lstStyle/>
          <a:p>
            <a:pPr algn="r" indent="0" marL="0">
              <a:buNone/>
            </a:pPr>
            <a:r>
              <a:rPr lang="en-US" sz="1400" b="1" dirty="0">
                <a:solidFill>
                  <a:srgbClr val="0095C9"/>
                </a:solidFill>
              </a:rPr>
              <a:t>2 min</a:t>
            </a:r>
            <a:endParaRPr lang="en-US" sz="14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Démonstration · saisie et vérification</a:t>
            </a:r>
            <a:endParaRPr lang="en-US" sz="3000" dirty="0"/>
          </a:p>
        </p:txBody>
      </p:sp>
      <p:sp>
        <p:nvSpPr>
          <p:cNvPr id="3" name="cadre af-verification.jpg"/>
          <p:cNvSpPr/>
          <p:nvPr/>
        </p:nvSpPr>
        <p:spPr>
          <a:xfrm>
            <a:off x="512064" y="1335024"/>
            <a:ext cx="7296912" cy="4585877"/>
          </a:xfrm>
          <a:prstGeom prst="rect">
            <a:avLst/>
          </a:prstGeom>
          <a:solidFill>
            <a:srgbClr val="FFFFFF"/>
          </a:solidFill>
          <a:ln w="9525">
            <a:solidFill>
              <a:srgbClr val="E1E5EA"/>
            </a:solidFill>
            <a:prstDash val="solid"/>
          </a:ln>
          <a:effectLst>
            <a:outerShdw sx="100000" sy="100000" kx="0" ky="0" algn="bl" rotWithShape="0" blurRad="101600" dist="38100" dir="5400000">
              <a:srgbClr val="17418A">
                <a:alpha val="18000"/>
              </a:srgbClr>
            </a:outerShdw>
          </a:effectLst>
        </p:spPr>
      </p:sp>
      <p:pic>
        <p:nvPicPr>
          <p:cNvPr id="4" name="capture af-verification.jpg" descr="File de vérification d’Administration et Finance">    </p:cNvPr>
          <p:cNvPicPr>
            <a:picLocks noChangeAspect="1"/>
          </p:cNvPicPr>
          <p:nvPr/>
        </p:nvPicPr>
        <p:blipFill>
          <a:blip r:embed="rId1"/>
          <a:stretch>
            <a:fillRect/>
          </a:stretch>
        </p:blipFill>
        <p:spPr>
          <a:xfrm>
            <a:off x="548640" y="1371600"/>
            <a:ext cx="7223760" cy="4512725"/>
          </a:xfrm>
          <a:prstGeom prst="rect">
            <a:avLst/>
          </a:prstGeom>
        </p:spPr>
      </p:pic>
      <p:sp>
        <p:nvSpPr>
          <p:cNvPr id="5" name="Text 2"/>
          <p:cNvSpPr txBox="1"/>
          <p:nvPr/>
        </p:nvSpPr>
        <p:spPr>
          <a:xfrm>
            <a:off x="548640" y="6039773"/>
            <a:ext cx="7223760" cy="274320"/>
          </a:xfrm>
          <a:prstGeom prst="rect">
            <a:avLst/>
          </a:prstGeom>
          <a:noFill/>
          <a:ln/>
        </p:spPr>
        <p:txBody>
          <a:bodyPr wrap="square" lIns="0" tIns="0" rIns="0" bIns="0" rtlCol="0" anchor="t"/>
          <a:lstStyle/>
          <a:p>
            <a:pPr indent="0" marL="0">
              <a:buNone/>
            </a:pPr>
            <a:r>
              <a:rPr lang="en-US" sz="1100" dirty="0">
                <a:solidFill>
                  <a:srgbClr val="5D6670"/>
                </a:solidFill>
              </a:rPr>
              <a:t>File de vérification d’Administration et Finance</a:t>
            </a:r>
            <a:endParaRPr lang="en-US" sz="1100" dirty="0"/>
          </a:p>
        </p:txBody>
      </p:sp>
      <p:sp>
        <p:nvSpPr>
          <p:cNvPr id="6" name="téléphone"/>
          <p:cNvSpPr/>
          <p:nvPr/>
        </p:nvSpPr>
        <p:spPr>
          <a:xfrm>
            <a:off x="9052560" y="1280160"/>
            <a:ext cx="2316661" cy="4892040"/>
          </a:xfrm>
          <a:prstGeom prst="roundRect">
            <a:avLst>
              <a:gd name="adj" fmla="val 9868"/>
            </a:avLst>
          </a:prstGeom>
          <a:solidFill>
            <a:srgbClr val="1C1C1E"/>
          </a:solidFill>
          <a:ln/>
          <a:effectLst>
            <a:outerShdw sx="100000" sy="100000" kx="0" ky="0" algn="bl" rotWithShape="0" blurRad="127000" dist="50800" dir="5400000">
              <a:srgbClr val="000000">
                <a:alpha val="25000"/>
              </a:srgbClr>
            </a:outerShdw>
          </a:effectLst>
        </p:spPr>
      </p:sp>
      <p:pic>
        <p:nvPicPr>
          <p:cNvPr id="7" name="écran mobile-saisie.jpg" descr="Saisie sur téléphone">    </p:cNvPr>
          <p:cNvPicPr>
            <a:picLocks noChangeAspect="1"/>
          </p:cNvPicPr>
          <p:nvPr/>
        </p:nvPicPr>
        <p:blipFill>
          <a:blip r:embed="rId2"/>
          <a:srcRect l="0" r="0" t="0" b="0"/>
          <a:stretch/>
        </p:blipFill>
        <p:spPr>
          <a:xfrm>
            <a:off x="9144000" y="1417320"/>
            <a:ext cx="2133781" cy="4617720"/>
          </a:xfrm>
          <a:prstGeom prst="rect">
            <a:avLst/>
          </a:prstGeom>
        </p:spPr>
      </p:pic>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Démonstration · tableau de bord et visa</a:t>
            </a:r>
            <a:endParaRPr lang="en-US" sz="3000" dirty="0"/>
          </a:p>
        </p:txBody>
      </p:sp>
      <p:sp>
        <p:nvSpPr>
          <p:cNvPr id="3" name="cadre af-tableau-de-bord.jpg"/>
          <p:cNvSpPr/>
          <p:nvPr/>
        </p:nvSpPr>
        <p:spPr>
          <a:xfrm>
            <a:off x="512064" y="1335024"/>
            <a:ext cx="7296912" cy="4585877"/>
          </a:xfrm>
          <a:prstGeom prst="rect">
            <a:avLst/>
          </a:prstGeom>
          <a:solidFill>
            <a:srgbClr val="FFFFFF"/>
          </a:solidFill>
          <a:ln w="9525">
            <a:solidFill>
              <a:srgbClr val="E1E5EA"/>
            </a:solidFill>
            <a:prstDash val="solid"/>
          </a:ln>
          <a:effectLst>
            <a:outerShdw sx="100000" sy="100000" kx="0" ky="0" algn="bl" rotWithShape="0" blurRad="101600" dist="38100" dir="5400000">
              <a:srgbClr val="17418A">
                <a:alpha val="18000"/>
              </a:srgbClr>
            </a:outerShdw>
          </a:effectLst>
        </p:spPr>
      </p:sp>
      <p:pic>
        <p:nvPicPr>
          <p:cNvPr id="4" name="capture af-tableau-de-bord.jpg" descr="Tableau de bord mis à jour à chaque validation">    </p:cNvPr>
          <p:cNvPicPr>
            <a:picLocks noChangeAspect="1"/>
          </p:cNvPicPr>
          <p:nvPr/>
        </p:nvPicPr>
        <p:blipFill>
          <a:blip r:embed="rId1"/>
          <a:stretch>
            <a:fillRect/>
          </a:stretch>
        </p:blipFill>
        <p:spPr>
          <a:xfrm>
            <a:off x="548640" y="1371600"/>
            <a:ext cx="7223760" cy="4512725"/>
          </a:xfrm>
          <a:prstGeom prst="rect">
            <a:avLst/>
          </a:prstGeom>
        </p:spPr>
      </p:pic>
      <p:sp>
        <p:nvSpPr>
          <p:cNvPr id="5" name="Text 2"/>
          <p:cNvSpPr txBox="1"/>
          <p:nvPr/>
        </p:nvSpPr>
        <p:spPr>
          <a:xfrm>
            <a:off x="548640" y="6039773"/>
            <a:ext cx="7223760" cy="274320"/>
          </a:xfrm>
          <a:prstGeom prst="rect">
            <a:avLst/>
          </a:prstGeom>
          <a:noFill/>
          <a:ln/>
        </p:spPr>
        <p:txBody>
          <a:bodyPr wrap="square" lIns="0" tIns="0" rIns="0" bIns="0" rtlCol="0" anchor="t"/>
          <a:lstStyle/>
          <a:p>
            <a:pPr indent="0" marL="0">
              <a:buNone/>
            </a:pPr>
            <a:r>
              <a:rPr lang="en-US" sz="1100" dirty="0">
                <a:solidFill>
                  <a:srgbClr val="5D6670"/>
                </a:solidFill>
              </a:rPr>
              <a:t>Tableau de bord mis à jour à chaque validation</a:t>
            </a:r>
            <a:endParaRPr lang="en-US" sz="1100" dirty="0"/>
          </a:p>
        </p:txBody>
      </p:sp>
      <p:sp>
        <p:nvSpPr>
          <p:cNvPr id="6" name="téléphone"/>
          <p:cNvSpPr/>
          <p:nvPr/>
        </p:nvSpPr>
        <p:spPr>
          <a:xfrm>
            <a:off x="9052560" y="1280160"/>
            <a:ext cx="2316661" cy="4892040"/>
          </a:xfrm>
          <a:prstGeom prst="roundRect">
            <a:avLst>
              <a:gd name="adj" fmla="val 9868"/>
            </a:avLst>
          </a:prstGeom>
          <a:solidFill>
            <a:srgbClr val="1C1C1E"/>
          </a:solidFill>
          <a:ln/>
          <a:effectLst>
            <a:outerShdw sx="100000" sy="100000" kx="0" ky="0" algn="bl" rotWithShape="0" blurRad="127000" dist="50800" dir="5400000">
              <a:srgbClr val="000000">
                <a:alpha val="25000"/>
              </a:srgbClr>
            </a:outerShdw>
          </a:effectLst>
        </p:spPr>
      </p:sp>
      <p:pic>
        <p:nvPicPr>
          <p:cNvPr id="7" name="écran m-dir-visa.jpg" descr="Visa de l’Inspecteur Général">    </p:cNvPr>
          <p:cNvPicPr>
            <a:picLocks noChangeAspect="1"/>
          </p:cNvPicPr>
          <p:nvPr/>
        </p:nvPicPr>
        <p:blipFill>
          <a:blip r:embed="rId2"/>
          <a:srcRect l="0" r="0" t="0" b="0"/>
          <a:stretch/>
        </p:blipFill>
        <p:spPr>
          <a:xfrm>
            <a:off x="9144000" y="1417320"/>
            <a:ext cx="2133781" cy="4617720"/>
          </a:xfrm>
          <a:prstGeom prst="rect">
            <a:avLst/>
          </a:prstGeom>
        </p:spPr>
      </p:pic>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Démonstration · rapport officiel et code QR</a:t>
            </a:r>
            <a:endParaRPr lang="en-US" sz="3000" dirty="0"/>
          </a:p>
        </p:txBody>
      </p:sp>
      <p:sp>
        <p:nvSpPr>
          <p:cNvPr id="3" name="cadre rapport.jpg"/>
          <p:cNvSpPr/>
          <p:nvPr/>
        </p:nvSpPr>
        <p:spPr>
          <a:xfrm>
            <a:off x="786384" y="1289304"/>
            <a:ext cx="3372655" cy="4736592"/>
          </a:xfrm>
          <a:prstGeom prst="rect">
            <a:avLst/>
          </a:prstGeom>
          <a:solidFill>
            <a:srgbClr val="FFFFFF"/>
          </a:solidFill>
          <a:ln w="9525">
            <a:solidFill>
              <a:srgbClr val="E1E5EA"/>
            </a:solidFill>
            <a:prstDash val="solid"/>
          </a:ln>
          <a:effectLst>
            <a:outerShdw sx="100000" sy="100000" kx="0" ky="0" algn="bl" rotWithShape="0" blurRad="101600" dist="38100" dir="5400000">
              <a:srgbClr val="17418A">
                <a:alpha val="18000"/>
              </a:srgbClr>
            </a:outerShdw>
          </a:effectLst>
        </p:spPr>
      </p:sp>
      <p:pic>
        <p:nvPicPr>
          <p:cNvPr id="4" name="capture rapport.jpg" descr="Rapport officiel avec code QR">    </p:cNvPr>
          <p:cNvPicPr>
            <a:picLocks noChangeAspect="1"/>
          </p:cNvPicPr>
          <p:nvPr/>
        </p:nvPicPr>
        <p:blipFill>
          <a:blip r:embed="rId1"/>
          <a:stretch>
            <a:fillRect/>
          </a:stretch>
        </p:blipFill>
        <p:spPr>
          <a:xfrm>
            <a:off x="822960" y="1325880"/>
            <a:ext cx="3299503" cy="4663440"/>
          </a:xfrm>
          <a:prstGeom prst="rect">
            <a:avLst/>
          </a:prstGeom>
        </p:spPr>
      </p:pic>
      <p:sp>
        <p:nvSpPr>
          <p:cNvPr id="5" name="téléphone"/>
          <p:cNvSpPr/>
          <p:nvPr/>
        </p:nvSpPr>
        <p:spPr>
          <a:xfrm>
            <a:off x="5120640" y="1280160"/>
            <a:ext cx="2316661" cy="4892040"/>
          </a:xfrm>
          <a:prstGeom prst="roundRect">
            <a:avLst>
              <a:gd name="adj" fmla="val 9868"/>
            </a:avLst>
          </a:prstGeom>
          <a:solidFill>
            <a:srgbClr val="1C1C1E"/>
          </a:solidFill>
          <a:ln/>
          <a:effectLst>
            <a:outerShdw sx="100000" sy="100000" kx="0" ky="0" algn="bl" rotWithShape="0" blurRad="127000" dist="50800" dir="5400000">
              <a:srgbClr val="000000">
                <a:alpha val="25000"/>
              </a:srgbClr>
            </a:outerShdw>
          </a:effectLst>
        </p:spPr>
      </p:sp>
      <p:pic>
        <p:nvPicPr>
          <p:cNvPr id="6" name="écran m-verifier.jpg" descr="Vérification du document par code QR">    </p:cNvPr>
          <p:cNvPicPr>
            <a:picLocks noChangeAspect="1"/>
          </p:cNvPicPr>
          <p:nvPr/>
        </p:nvPicPr>
        <p:blipFill>
          <a:blip r:embed="rId2"/>
          <a:srcRect l="0" r="0" t="0" b="0"/>
          <a:stretch/>
        </p:blipFill>
        <p:spPr>
          <a:xfrm>
            <a:off x="5212080" y="1417320"/>
            <a:ext cx="2133781" cy="4617720"/>
          </a:xfrm>
          <a:prstGeom prst="rect">
            <a:avLst/>
          </a:prstGeom>
        </p:spPr>
      </p:pic>
      <p:sp>
        <p:nvSpPr>
          <p:cNvPr id="7" name="Text 3"/>
          <p:cNvSpPr txBox="1"/>
          <p:nvPr/>
        </p:nvSpPr>
        <p:spPr>
          <a:xfrm>
            <a:off x="7863840" y="1463040"/>
            <a:ext cx="3794760" cy="822960"/>
          </a:xfrm>
          <a:prstGeom prst="rect">
            <a:avLst/>
          </a:prstGeom>
          <a:noFill/>
          <a:ln/>
        </p:spPr>
        <p:txBody>
          <a:bodyPr wrap="square" lIns="0" tIns="0" rIns="0" bIns="0" rtlCol="0" anchor="t"/>
          <a:lstStyle/>
          <a:p>
            <a:pPr indent="0" marL="0">
              <a:buNone/>
            </a:pPr>
            <a:r>
              <a:rPr lang="en-US" sz="1800" b="1" dirty="0">
                <a:solidFill>
                  <a:srgbClr val="17418A"/>
                </a:solidFill>
              </a:rPr>
              <a:t>Un document que personne ne peut falsifier</a:t>
            </a:r>
            <a:endParaRPr lang="en-US" sz="1800" dirty="0"/>
          </a:p>
        </p:txBody>
      </p:sp>
      <p:sp>
        <p:nvSpPr>
          <p:cNvPr id="8" name="Text 4"/>
          <p:cNvSpPr txBox="1"/>
          <p:nvPr/>
        </p:nvSpPr>
        <p:spPr>
          <a:xfrm>
            <a:off x="7863840" y="2377440"/>
            <a:ext cx="3794760" cy="2743200"/>
          </a:xfrm>
          <a:prstGeom prst="rect">
            <a:avLst/>
          </a:prstGeom>
          <a:noFill/>
          <a:ln/>
        </p:spPr>
        <p:txBody>
          <a:bodyPr wrap="square" lIns="0" tIns="0" rIns="0" bIns="0" rtlCol="0" anchor="t"/>
          <a:lstStyle/>
          <a:p>
            <a:pPr indent="0" marL="0">
              <a:buNone/>
            </a:pPr>
            <a:r>
              <a:rPr lang="en-US" sz="1400" dirty="0">
                <a:solidFill>
                  <a:srgbClr val="323230"/>
                </a:solidFill>
              </a:rPr>
              <a:t>Chaque rapport ou procès-verbal porte une référence unique et un code QR. En le scannant, n’importe qui vérifie que le document a bien été émis par l’application et qu’il n’a pas été modifié. Aucune donnée financière n’est affichée publiquement.</a:t>
            </a:r>
            <a:endParaRPr lang="en-US" sz="14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Un passage progressif et maîtrisé</a:t>
            </a:r>
            <a:endParaRPr lang="en-US" sz="3000" dirty="0"/>
          </a:p>
        </p:txBody>
      </p:sp>
      <p:sp>
        <p:nvSpPr>
          <p:cNvPr id="3" name="pastille"/>
          <p:cNvSpPr/>
          <p:nvPr/>
        </p:nvSpPr>
        <p:spPr>
          <a:xfrm>
            <a:off x="1188720" y="1417320"/>
            <a:ext cx="777240" cy="777240"/>
          </a:xfrm>
          <a:prstGeom prst="ellipse">
            <a:avLst/>
          </a:prstGeom>
          <a:solidFill>
            <a:srgbClr val="65B32E"/>
          </a:solidFill>
          <a:ln/>
        </p:spPr>
      </p:sp>
      <p:pic>
        <p:nvPicPr>
          <p:cNvPr id="4" name="icône FaClipboardCheck" descr="FaClipboardCheck">    </p:cNvPr>
          <p:cNvPicPr>
            <a:picLocks noChangeAspect="1"/>
          </p:cNvPicPr>
          <p:nvPr/>
        </p:nvPicPr>
        <p:blipFill>
          <a:blip r:embed="rId1"/>
          <a:stretch>
            <a:fillRect/>
          </a:stretch>
        </p:blipFill>
        <p:spPr>
          <a:xfrm>
            <a:off x="1375258" y="1603858"/>
            <a:ext cx="404165" cy="404165"/>
          </a:xfrm>
          <a:prstGeom prst="rect">
            <a:avLst/>
          </a:prstGeom>
        </p:spPr>
      </p:pic>
      <p:sp>
        <p:nvSpPr>
          <p:cNvPr id="5" name="Shape 2"/>
          <p:cNvSpPr/>
          <p:nvPr/>
        </p:nvSpPr>
        <p:spPr>
          <a:xfrm>
            <a:off x="2080260" y="1810512"/>
            <a:ext cx="1280160" cy="0"/>
          </a:xfrm>
          <a:prstGeom prst="line">
            <a:avLst/>
          </a:prstGeom>
          <a:noFill/>
          <a:ln w="19050">
            <a:solidFill>
              <a:srgbClr val="AFB8BE"/>
            </a:solidFill>
            <a:prstDash val="dash"/>
          </a:ln>
        </p:spPr>
      </p:sp>
      <p:sp>
        <p:nvSpPr>
          <p:cNvPr id="6" name="Text 3"/>
          <p:cNvSpPr txBox="1"/>
          <p:nvPr/>
        </p:nvSpPr>
        <p:spPr>
          <a:xfrm>
            <a:off x="548640" y="2377440"/>
            <a:ext cx="2057400" cy="411480"/>
          </a:xfrm>
          <a:prstGeom prst="rect">
            <a:avLst/>
          </a:prstGeom>
          <a:noFill/>
          <a:ln/>
        </p:spPr>
        <p:txBody>
          <a:bodyPr wrap="square" lIns="0" tIns="0" rIns="0" bIns="0" rtlCol="0" anchor="t"/>
          <a:lstStyle/>
          <a:p>
            <a:pPr algn="ctr" indent="0" marL="0">
              <a:buNone/>
            </a:pPr>
            <a:r>
              <a:rPr lang="en-US" sz="1700" b="1" dirty="0">
                <a:solidFill>
                  <a:srgbClr val="17418A"/>
                </a:solidFill>
              </a:rPr>
              <a:t>Décision</a:t>
            </a:r>
            <a:endParaRPr lang="en-US" sz="1700" dirty="0"/>
          </a:p>
        </p:txBody>
      </p:sp>
      <p:sp>
        <p:nvSpPr>
          <p:cNvPr id="7" name="Text 4"/>
          <p:cNvSpPr txBox="1"/>
          <p:nvPr/>
        </p:nvSpPr>
        <p:spPr>
          <a:xfrm>
            <a:off x="548640" y="2816352"/>
            <a:ext cx="2057400" cy="320040"/>
          </a:xfrm>
          <a:prstGeom prst="rect">
            <a:avLst/>
          </a:prstGeom>
          <a:noFill/>
          <a:ln/>
        </p:spPr>
        <p:txBody>
          <a:bodyPr wrap="square" lIns="0" tIns="0" rIns="0" bIns="0" rtlCol="0" anchor="t"/>
          <a:lstStyle/>
          <a:p>
            <a:pPr algn="ctr" indent="0" marL="0">
              <a:buNone/>
            </a:pPr>
            <a:r>
              <a:rPr lang="en-US" sz="1300" b="1" dirty="0">
                <a:solidFill>
                  <a:srgbClr val="0095C9"/>
                </a:solidFill>
              </a:rPr>
              <a:t>Aujourd’hui</a:t>
            </a:r>
            <a:endParaRPr lang="en-US" sz="1300" dirty="0"/>
          </a:p>
        </p:txBody>
      </p:sp>
      <p:sp>
        <p:nvSpPr>
          <p:cNvPr id="8" name="Text 5"/>
          <p:cNvSpPr txBox="1"/>
          <p:nvPr/>
        </p:nvSpPr>
        <p:spPr>
          <a:xfrm>
            <a:off x="594360" y="3246120"/>
            <a:ext cx="1965960" cy="1463040"/>
          </a:xfrm>
          <a:prstGeom prst="rect">
            <a:avLst/>
          </a:prstGeom>
          <a:noFill/>
          <a:ln/>
        </p:spPr>
        <p:txBody>
          <a:bodyPr wrap="square" lIns="0" tIns="0" rIns="0" bIns="0" rtlCol="0" anchor="t"/>
          <a:lstStyle/>
          <a:p>
            <a:pPr algn="ctr" indent="0" marL="0">
              <a:buNone/>
            </a:pPr>
            <a:r>
              <a:rPr lang="en-US" sz="1300" dirty="0">
                <a:solidFill>
                  <a:srgbClr val="323230"/>
                </a:solidFill>
              </a:rPr>
              <a:t>Validation de l’adoption ; désignation du pilote et des services pilotes</a:t>
            </a:r>
            <a:endParaRPr lang="en-US" sz="1300" dirty="0"/>
          </a:p>
        </p:txBody>
      </p:sp>
      <p:sp>
        <p:nvSpPr>
          <p:cNvPr id="9" name="pastille"/>
          <p:cNvSpPr/>
          <p:nvPr/>
        </p:nvSpPr>
        <p:spPr>
          <a:xfrm>
            <a:off x="3474720" y="1417320"/>
            <a:ext cx="777240" cy="777240"/>
          </a:xfrm>
          <a:prstGeom prst="ellipse">
            <a:avLst/>
          </a:prstGeom>
          <a:solidFill>
            <a:srgbClr val="17418A"/>
          </a:solidFill>
          <a:ln/>
        </p:spPr>
      </p:sp>
      <p:pic>
        <p:nvPicPr>
          <p:cNvPr id="10" name="icône FaCheckDouble" descr="FaCheckDouble">    </p:cNvPr>
          <p:cNvPicPr>
            <a:picLocks noChangeAspect="1"/>
          </p:cNvPicPr>
          <p:nvPr/>
        </p:nvPicPr>
        <p:blipFill>
          <a:blip r:embed="rId2"/>
          <a:stretch>
            <a:fillRect/>
          </a:stretch>
        </p:blipFill>
        <p:spPr>
          <a:xfrm>
            <a:off x="3661258" y="1603858"/>
            <a:ext cx="404165" cy="404165"/>
          </a:xfrm>
          <a:prstGeom prst="rect">
            <a:avLst/>
          </a:prstGeom>
        </p:spPr>
      </p:pic>
      <p:sp>
        <p:nvSpPr>
          <p:cNvPr id="11" name="Shape 7"/>
          <p:cNvSpPr/>
          <p:nvPr/>
        </p:nvSpPr>
        <p:spPr>
          <a:xfrm>
            <a:off x="4366260" y="1810512"/>
            <a:ext cx="1280160" cy="0"/>
          </a:xfrm>
          <a:prstGeom prst="line">
            <a:avLst/>
          </a:prstGeom>
          <a:noFill/>
          <a:ln w="19050">
            <a:solidFill>
              <a:srgbClr val="AFB8BE"/>
            </a:solidFill>
            <a:prstDash val="dash"/>
          </a:ln>
        </p:spPr>
      </p:sp>
      <p:sp>
        <p:nvSpPr>
          <p:cNvPr id="12" name="Text 8"/>
          <p:cNvSpPr txBox="1"/>
          <p:nvPr/>
        </p:nvSpPr>
        <p:spPr>
          <a:xfrm>
            <a:off x="2834640" y="2377440"/>
            <a:ext cx="2057400" cy="411480"/>
          </a:xfrm>
          <a:prstGeom prst="rect">
            <a:avLst/>
          </a:prstGeom>
          <a:noFill/>
          <a:ln/>
        </p:spPr>
        <p:txBody>
          <a:bodyPr wrap="square" lIns="0" tIns="0" rIns="0" bIns="0" rtlCol="0" anchor="t"/>
          <a:lstStyle/>
          <a:p>
            <a:pPr algn="ctr" indent="0" marL="0">
              <a:buNone/>
            </a:pPr>
            <a:r>
              <a:rPr lang="en-US" sz="1700" b="1" dirty="0">
                <a:solidFill>
                  <a:srgbClr val="17418A"/>
                </a:solidFill>
              </a:rPr>
              <a:t>Recette</a:t>
            </a:r>
            <a:endParaRPr lang="en-US" sz="1700" dirty="0"/>
          </a:p>
        </p:txBody>
      </p:sp>
      <p:sp>
        <p:nvSpPr>
          <p:cNvPr id="13" name="Text 9"/>
          <p:cNvSpPr txBox="1"/>
          <p:nvPr/>
        </p:nvSpPr>
        <p:spPr>
          <a:xfrm>
            <a:off x="2834640" y="2816352"/>
            <a:ext cx="2057400" cy="320040"/>
          </a:xfrm>
          <a:prstGeom prst="rect">
            <a:avLst/>
          </a:prstGeom>
          <a:noFill/>
          <a:ln/>
        </p:spPr>
        <p:txBody>
          <a:bodyPr wrap="square" lIns="0" tIns="0" rIns="0" bIns="0" rtlCol="0" anchor="t"/>
          <a:lstStyle/>
          <a:p>
            <a:pPr algn="ctr" indent="0" marL="0">
              <a:buNone/>
            </a:pPr>
            <a:r>
              <a:rPr lang="en-US" sz="1300" b="1" dirty="0">
                <a:solidFill>
                  <a:srgbClr val="0095C9"/>
                </a:solidFill>
              </a:rPr>
              <a:t>2 semaines</a:t>
            </a:r>
            <a:endParaRPr lang="en-US" sz="1300" dirty="0"/>
          </a:p>
        </p:txBody>
      </p:sp>
      <p:sp>
        <p:nvSpPr>
          <p:cNvPr id="14" name="Text 10"/>
          <p:cNvSpPr txBox="1"/>
          <p:nvPr/>
        </p:nvSpPr>
        <p:spPr>
          <a:xfrm>
            <a:off x="2880360" y="3246120"/>
            <a:ext cx="1965960" cy="1463040"/>
          </a:xfrm>
          <a:prstGeom prst="rect">
            <a:avLst/>
          </a:prstGeom>
          <a:noFill/>
          <a:ln/>
        </p:spPr>
        <p:txBody>
          <a:bodyPr wrap="square" lIns="0" tIns="0" rIns="0" bIns="0" rtlCol="0" anchor="t"/>
          <a:lstStyle/>
          <a:p>
            <a:pPr algn="ctr" indent="0" marL="0">
              <a:buNone/>
            </a:pPr>
            <a:r>
              <a:rPr lang="en-US" sz="1300" dirty="0">
                <a:solidFill>
                  <a:srgbClr val="323230"/>
                </a:solidFill>
              </a:rPr>
              <a:t>51 scénarios joués par les futurs utilisateurs ; procès-verbal signé</a:t>
            </a:r>
            <a:endParaRPr lang="en-US" sz="1300" dirty="0"/>
          </a:p>
        </p:txBody>
      </p:sp>
      <p:sp>
        <p:nvSpPr>
          <p:cNvPr id="15" name="pastille"/>
          <p:cNvSpPr/>
          <p:nvPr/>
        </p:nvSpPr>
        <p:spPr>
          <a:xfrm>
            <a:off x="5760720" y="1417320"/>
            <a:ext cx="777240" cy="777240"/>
          </a:xfrm>
          <a:prstGeom prst="ellipse">
            <a:avLst/>
          </a:prstGeom>
          <a:solidFill>
            <a:srgbClr val="17418A"/>
          </a:solidFill>
          <a:ln/>
        </p:spPr>
      </p:sp>
      <p:pic>
        <p:nvPicPr>
          <p:cNvPr id="16" name="icône FaCogs" descr="FaCogs">    </p:cNvPr>
          <p:cNvPicPr>
            <a:picLocks noChangeAspect="1"/>
          </p:cNvPicPr>
          <p:nvPr/>
        </p:nvPicPr>
        <p:blipFill>
          <a:blip r:embed="rId3"/>
          <a:stretch>
            <a:fillRect/>
          </a:stretch>
        </p:blipFill>
        <p:spPr>
          <a:xfrm>
            <a:off x="5947258" y="1603858"/>
            <a:ext cx="404165" cy="404165"/>
          </a:xfrm>
          <a:prstGeom prst="rect">
            <a:avLst/>
          </a:prstGeom>
        </p:spPr>
      </p:pic>
      <p:sp>
        <p:nvSpPr>
          <p:cNvPr id="17" name="Shape 12"/>
          <p:cNvSpPr/>
          <p:nvPr/>
        </p:nvSpPr>
        <p:spPr>
          <a:xfrm>
            <a:off x="6652260" y="1810512"/>
            <a:ext cx="1280160" cy="0"/>
          </a:xfrm>
          <a:prstGeom prst="line">
            <a:avLst/>
          </a:prstGeom>
          <a:noFill/>
          <a:ln w="19050">
            <a:solidFill>
              <a:srgbClr val="AFB8BE"/>
            </a:solidFill>
            <a:prstDash val="dash"/>
          </a:ln>
        </p:spPr>
      </p:sp>
      <p:sp>
        <p:nvSpPr>
          <p:cNvPr id="18" name="Text 13"/>
          <p:cNvSpPr txBox="1"/>
          <p:nvPr/>
        </p:nvSpPr>
        <p:spPr>
          <a:xfrm>
            <a:off x="5120640" y="2377440"/>
            <a:ext cx="2057400" cy="411480"/>
          </a:xfrm>
          <a:prstGeom prst="rect">
            <a:avLst/>
          </a:prstGeom>
          <a:noFill/>
          <a:ln/>
        </p:spPr>
        <p:txBody>
          <a:bodyPr wrap="square" lIns="0" tIns="0" rIns="0" bIns="0" rtlCol="0" anchor="t"/>
          <a:lstStyle/>
          <a:p>
            <a:pPr algn="ctr" indent="0" marL="0">
              <a:buNone/>
            </a:pPr>
            <a:r>
              <a:rPr lang="en-US" sz="1700" b="1" dirty="0">
                <a:solidFill>
                  <a:srgbClr val="17418A"/>
                </a:solidFill>
              </a:rPr>
              <a:t>Pilote</a:t>
            </a:r>
            <a:endParaRPr lang="en-US" sz="1700" dirty="0"/>
          </a:p>
        </p:txBody>
      </p:sp>
      <p:sp>
        <p:nvSpPr>
          <p:cNvPr id="19" name="Text 14"/>
          <p:cNvSpPr txBox="1"/>
          <p:nvPr/>
        </p:nvSpPr>
        <p:spPr>
          <a:xfrm>
            <a:off x="5120640" y="2816352"/>
            <a:ext cx="2057400" cy="320040"/>
          </a:xfrm>
          <a:prstGeom prst="rect">
            <a:avLst/>
          </a:prstGeom>
          <a:noFill/>
          <a:ln/>
        </p:spPr>
        <p:txBody>
          <a:bodyPr wrap="square" lIns="0" tIns="0" rIns="0" bIns="0" rtlCol="0" anchor="t"/>
          <a:lstStyle/>
          <a:p>
            <a:pPr algn="ctr" indent="0" marL="0">
              <a:buNone/>
            </a:pPr>
            <a:r>
              <a:rPr lang="en-US" sz="1300" b="1" dirty="0">
                <a:solidFill>
                  <a:srgbClr val="0095C9"/>
                </a:solidFill>
              </a:rPr>
              <a:t>1 mois</a:t>
            </a:r>
            <a:endParaRPr lang="en-US" sz="1300" dirty="0"/>
          </a:p>
        </p:txBody>
      </p:sp>
      <p:sp>
        <p:nvSpPr>
          <p:cNvPr id="20" name="Text 15"/>
          <p:cNvSpPr txBox="1"/>
          <p:nvPr/>
        </p:nvSpPr>
        <p:spPr>
          <a:xfrm>
            <a:off x="5166360" y="3246120"/>
            <a:ext cx="1965960" cy="1463040"/>
          </a:xfrm>
          <a:prstGeom prst="rect">
            <a:avLst/>
          </a:prstGeom>
          <a:noFill/>
          <a:ln/>
        </p:spPr>
        <p:txBody>
          <a:bodyPr wrap="square" lIns="0" tIns="0" rIns="0" bIns="0" rtlCol="0" anchor="t"/>
          <a:lstStyle/>
          <a:p>
            <a:pPr algn="ctr" indent="0" marL="0">
              <a:buNone/>
            </a:pPr>
            <a:r>
              <a:rPr lang="en-US" sz="1300" dirty="0">
                <a:solidFill>
                  <a:srgbClr val="323230"/>
                </a:solidFill>
              </a:rPr>
              <a:t>2 ou 3 services en conditions réelles, en parallèle des registres</a:t>
            </a:r>
            <a:endParaRPr lang="en-US" sz="1300" dirty="0"/>
          </a:p>
        </p:txBody>
      </p:sp>
      <p:sp>
        <p:nvSpPr>
          <p:cNvPr id="21" name="pastille"/>
          <p:cNvSpPr/>
          <p:nvPr/>
        </p:nvSpPr>
        <p:spPr>
          <a:xfrm>
            <a:off x="8046720" y="1417320"/>
            <a:ext cx="777240" cy="777240"/>
          </a:xfrm>
          <a:prstGeom prst="ellipse">
            <a:avLst/>
          </a:prstGeom>
          <a:solidFill>
            <a:srgbClr val="17418A"/>
          </a:solidFill>
          <a:ln/>
        </p:spPr>
      </p:sp>
      <p:pic>
        <p:nvPicPr>
          <p:cNvPr id="22" name="icône FaBookOpen" descr="FaBookOpen">    </p:cNvPr>
          <p:cNvPicPr>
            <a:picLocks noChangeAspect="1"/>
          </p:cNvPicPr>
          <p:nvPr/>
        </p:nvPicPr>
        <p:blipFill>
          <a:blip r:embed="rId4"/>
          <a:stretch>
            <a:fillRect/>
          </a:stretch>
        </p:blipFill>
        <p:spPr>
          <a:xfrm>
            <a:off x="8233258" y="1603858"/>
            <a:ext cx="404165" cy="404165"/>
          </a:xfrm>
          <a:prstGeom prst="rect">
            <a:avLst/>
          </a:prstGeom>
        </p:spPr>
      </p:pic>
      <p:sp>
        <p:nvSpPr>
          <p:cNvPr id="23" name="Shape 17"/>
          <p:cNvSpPr/>
          <p:nvPr/>
        </p:nvSpPr>
        <p:spPr>
          <a:xfrm>
            <a:off x="8938260" y="1810512"/>
            <a:ext cx="1280160" cy="0"/>
          </a:xfrm>
          <a:prstGeom prst="line">
            <a:avLst/>
          </a:prstGeom>
          <a:noFill/>
          <a:ln w="19050">
            <a:solidFill>
              <a:srgbClr val="AFB8BE"/>
            </a:solidFill>
            <a:prstDash val="dash"/>
          </a:ln>
        </p:spPr>
      </p:sp>
      <p:sp>
        <p:nvSpPr>
          <p:cNvPr id="24" name="Text 18"/>
          <p:cNvSpPr txBox="1"/>
          <p:nvPr/>
        </p:nvSpPr>
        <p:spPr>
          <a:xfrm>
            <a:off x="7406640" y="2377440"/>
            <a:ext cx="2057400" cy="411480"/>
          </a:xfrm>
          <a:prstGeom prst="rect">
            <a:avLst/>
          </a:prstGeom>
          <a:noFill/>
          <a:ln/>
        </p:spPr>
        <p:txBody>
          <a:bodyPr wrap="square" lIns="0" tIns="0" rIns="0" bIns="0" rtlCol="0" anchor="t"/>
          <a:lstStyle/>
          <a:p>
            <a:pPr algn="ctr" indent="0" marL="0">
              <a:buNone/>
            </a:pPr>
            <a:r>
              <a:rPr lang="en-US" sz="1700" b="1" dirty="0">
                <a:solidFill>
                  <a:srgbClr val="17418A"/>
                </a:solidFill>
              </a:rPr>
              <a:t>Formation</a:t>
            </a:r>
            <a:endParaRPr lang="en-US" sz="1700" dirty="0"/>
          </a:p>
        </p:txBody>
      </p:sp>
      <p:sp>
        <p:nvSpPr>
          <p:cNvPr id="25" name="Text 19"/>
          <p:cNvSpPr txBox="1"/>
          <p:nvPr/>
        </p:nvSpPr>
        <p:spPr>
          <a:xfrm>
            <a:off x="7406640" y="2816352"/>
            <a:ext cx="2057400" cy="320040"/>
          </a:xfrm>
          <a:prstGeom prst="rect">
            <a:avLst/>
          </a:prstGeom>
          <a:noFill/>
          <a:ln/>
        </p:spPr>
        <p:txBody>
          <a:bodyPr wrap="square" lIns="0" tIns="0" rIns="0" bIns="0" rtlCol="0" anchor="t"/>
          <a:lstStyle/>
          <a:p>
            <a:pPr algn="ctr" indent="0" marL="0">
              <a:buNone/>
            </a:pPr>
            <a:r>
              <a:rPr lang="en-US" sz="1300" b="1" dirty="0">
                <a:solidFill>
                  <a:srgbClr val="0095C9"/>
                </a:solidFill>
              </a:rPr>
              <a:t>En continu</a:t>
            </a:r>
            <a:endParaRPr lang="en-US" sz="1300" dirty="0"/>
          </a:p>
        </p:txBody>
      </p:sp>
      <p:sp>
        <p:nvSpPr>
          <p:cNvPr id="26" name="Text 20"/>
          <p:cNvSpPr txBox="1"/>
          <p:nvPr/>
        </p:nvSpPr>
        <p:spPr>
          <a:xfrm>
            <a:off x="7452360" y="3246120"/>
            <a:ext cx="1965960" cy="1463040"/>
          </a:xfrm>
          <a:prstGeom prst="rect">
            <a:avLst/>
          </a:prstGeom>
          <a:noFill/>
          <a:ln/>
        </p:spPr>
        <p:txBody>
          <a:bodyPr wrap="square" lIns="0" tIns="0" rIns="0" bIns="0" rtlCol="0" anchor="t"/>
          <a:lstStyle/>
          <a:p>
            <a:pPr algn="ctr" indent="0" marL="0">
              <a:buNone/>
            </a:pPr>
            <a:r>
              <a:rPr lang="en-US" sz="1300" dirty="0">
                <a:solidFill>
                  <a:srgbClr val="323230"/>
                </a:solidFill>
              </a:rPr>
              <a:t>Guide d’utilisation par profil ; sessions courtes par groupe</a:t>
            </a:r>
            <a:endParaRPr lang="en-US" sz="1300" dirty="0"/>
          </a:p>
        </p:txBody>
      </p:sp>
      <p:sp>
        <p:nvSpPr>
          <p:cNvPr id="27" name="pastille"/>
          <p:cNvSpPr/>
          <p:nvPr/>
        </p:nvSpPr>
        <p:spPr>
          <a:xfrm>
            <a:off x="10332720" y="1417320"/>
            <a:ext cx="777240" cy="777240"/>
          </a:xfrm>
          <a:prstGeom prst="ellipse">
            <a:avLst/>
          </a:prstGeom>
          <a:solidFill>
            <a:srgbClr val="17418A"/>
          </a:solidFill>
          <a:ln/>
        </p:spPr>
      </p:sp>
      <p:pic>
        <p:nvPicPr>
          <p:cNvPr id="28" name="icône FaUsers" descr="FaUsers">    </p:cNvPr>
          <p:cNvPicPr>
            <a:picLocks noChangeAspect="1"/>
          </p:cNvPicPr>
          <p:nvPr/>
        </p:nvPicPr>
        <p:blipFill>
          <a:blip r:embed="rId5"/>
          <a:stretch>
            <a:fillRect/>
          </a:stretch>
        </p:blipFill>
        <p:spPr>
          <a:xfrm>
            <a:off x="10519258" y="1603858"/>
            <a:ext cx="404165" cy="404165"/>
          </a:xfrm>
          <a:prstGeom prst="rect">
            <a:avLst/>
          </a:prstGeom>
        </p:spPr>
      </p:pic>
      <p:sp>
        <p:nvSpPr>
          <p:cNvPr id="29" name="Text 22"/>
          <p:cNvSpPr txBox="1"/>
          <p:nvPr/>
        </p:nvSpPr>
        <p:spPr>
          <a:xfrm>
            <a:off x="9692640" y="2377440"/>
            <a:ext cx="2057400" cy="411480"/>
          </a:xfrm>
          <a:prstGeom prst="rect">
            <a:avLst/>
          </a:prstGeom>
          <a:noFill/>
          <a:ln/>
        </p:spPr>
        <p:txBody>
          <a:bodyPr wrap="square" lIns="0" tIns="0" rIns="0" bIns="0" rtlCol="0" anchor="t"/>
          <a:lstStyle/>
          <a:p>
            <a:pPr algn="ctr" indent="0" marL="0">
              <a:buNone/>
            </a:pPr>
            <a:r>
              <a:rPr lang="en-US" sz="1700" b="1" dirty="0">
                <a:solidFill>
                  <a:srgbClr val="17418A"/>
                </a:solidFill>
              </a:rPr>
              <a:t>Généralisation</a:t>
            </a:r>
            <a:endParaRPr lang="en-US" sz="1700" dirty="0"/>
          </a:p>
        </p:txBody>
      </p:sp>
      <p:sp>
        <p:nvSpPr>
          <p:cNvPr id="30" name="Text 23"/>
          <p:cNvSpPr txBox="1"/>
          <p:nvPr/>
        </p:nvSpPr>
        <p:spPr>
          <a:xfrm>
            <a:off x="9692640" y="2816352"/>
            <a:ext cx="2057400" cy="320040"/>
          </a:xfrm>
          <a:prstGeom prst="rect">
            <a:avLst/>
          </a:prstGeom>
          <a:noFill/>
          <a:ln/>
        </p:spPr>
        <p:txBody>
          <a:bodyPr wrap="square" lIns="0" tIns="0" rIns="0" bIns="0" rtlCol="0" anchor="t"/>
          <a:lstStyle/>
          <a:p>
            <a:pPr algn="ctr" indent="0" marL="0">
              <a:buNone/>
            </a:pPr>
            <a:r>
              <a:rPr lang="en-US" sz="1300" b="1" dirty="0">
                <a:solidFill>
                  <a:srgbClr val="0095C9"/>
                </a:solidFill>
              </a:rPr>
              <a:t>1 à 2 mois</a:t>
            </a:r>
            <a:endParaRPr lang="en-US" sz="1300" dirty="0"/>
          </a:p>
        </p:txBody>
      </p:sp>
      <p:sp>
        <p:nvSpPr>
          <p:cNvPr id="31" name="Text 24"/>
          <p:cNvSpPr txBox="1"/>
          <p:nvPr/>
        </p:nvSpPr>
        <p:spPr>
          <a:xfrm>
            <a:off x="9738360" y="3246120"/>
            <a:ext cx="1965960" cy="1463040"/>
          </a:xfrm>
          <a:prstGeom prst="rect">
            <a:avLst/>
          </a:prstGeom>
          <a:noFill/>
          <a:ln/>
        </p:spPr>
        <p:txBody>
          <a:bodyPr wrap="square" lIns="0" tIns="0" rIns="0" bIns="0" rtlCol="0" anchor="t"/>
          <a:lstStyle/>
          <a:p>
            <a:pPr algn="ctr" indent="0" marL="0">
              <a:buNone/>
            </a:pPr>
            <a:r>
              <a:rPr lang="en-US" sz="1300" dirty="0">
                <a:solidFill>
                  <a:srgbClr val="323230"/>
                </a:solidFill>
              </a:rPr>
              <a:t>Bascule des services par vagues ; reprise des fichiers Excel existants</a:t>
            </a:r>
            <a:endParaRPr lang="en-US" sz="1300" dirty="0"/>
          </a:p>
        </p:txBody>
      </p:sp>
      <p:sp>
        <p:nvSpPr>
          <p:cNvPr id="32" name="Shape 25"/>
          <p:cNvSpPr/>
          <p:nvPr/>
        </p:nvSpPr>
        <p:spPr>
          <a:xfrm>
            <a:off x="548640" y="4937760"/>
            <a:ext cx="11109960" cy="1051560"/>
          </a:xfrm>
          <a:prstGeom prst="rect">
            <a:avLst/>
          </a:prstGeom>
          <a:solidFill>
            <a:srgbClr val="F3F5F8"/>
          </a:solidFill>
          <a:ln/>
        </p:spPr>
      </p:sp>
      <p:sp>
        <p:nvSpPr>
          <p:cNvPr id="33" name="Text 26"/>
          <p:cNvSpPr txBox="1"/>
          <p:nvPr/>
        </p:nvSpPr>
        <p:spPr>
          <a:xfrm>
            <a:off x="777240" y="5029200"/>
            <a:ext cx="10698480" cy="868680"/>
          </a:xfrm>
          <a:prstGeom prst="rect">
            <a:avLst/>
          </a:prstGeom>
          <a:noFill/>
          <a:ln/>
        </p:spPr>
        <p:txBody>
          <a:bodyPr wrap="square" lIns="0" tIns="0" rIns="0" bIns="0" rtlCol="0" anchor="ctr"/>
          <a:lstStyle/>
          <a:p>
            <a:pPr indent="0" marL="0">
              <a:buNone/>
            </a:pPr>
            <a:r>
              <a:rPr lang="en-US" sz="1400" b="1" dirty="0">
                <a:solidFill>
                  <a:srgbClr val="17418A"/>
                </a:solidFill>
              </a:rPr>
              <a:t>Sans rupture : </a:t>
            </a:r>
            <a:pPr indent="0" marL="0">
              <a:buNone/>
            </a:pPr>
            <a:r>
              <a:rPr lang="en-US" sz="1400" dirty="0">
                <a:solidFill>
                  <a:srgbClr val="323230"/>
                </a:solidFill>
              </a:rPr>
              <a:t>pendant le pilote, les registres actuels sont maintenus. L’outil de déploiement reprend les soldes, budgets et écritures des classeurs Excel de chaque service, et envoie les invitations aux agents.</a:t>
            </a:r>
            <a:endParaRPr lang="en-US" sz="14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5"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Tout est prêt pour démarrer</a:t>
            </a:r>
            <a:endParaRPr lang="en-US" sz="3000" dirty="0"/>
          </a:p>
        </p:txBody>
      </p:sp>
      <p:sp>
        <p:nvSpPr>
          <p:cNvPr id="3" name="Shape 1"/>
          <p:cNvSpPr/>
          <p:nvPr/>
        </p:nvSpPr>
        <p:spPr>
          <a:xfrm>
            <a:off x="548640" y="1417320"/>
            <a:ext cx="2606040" cy="2423160"/>
          </a:xfrm>
          <a:prstGeom prst="rect">
            <a:avLst/>
          </a:prstGeom>
          <a:solidFill>
            <a:srgbClr val="F3F5F8"/>
          </a:solidFill>
          <a:ln/>
        </p:spPr>
      </p:sp>
      <p:sp>
        <p:nvSpPr>
          <p:cNvPr id="4" name="Text 2"/>
          <p:cNvSpPr txBox="1"/>
          <p:nvPr/>
        </p:nvSpPr>
        <p:spPr>
          <a:xfrm>
            <a:off x="777240" y="1554480"/>
            <a:ext cx="2194560" cy="914400"/>
          </a:xfrm>
          <a:prstGeom prst="rect">
            <a:avLst/>
          </a:prstGeom>
          <a:noFill/>
          <a:ln/>
        </p:spPr>
        <p:txBody>
          <a:bodyPr wrap="square" lIns="0" tIns="0" rIns="0" bIns="0" rtlCol="0" anchor="t"/>
          <a:lstStyle/>
          <a:p>
            <a:pPr indent="0" marL="0">
              <a:buNone/>
            </a:pPr>
            <a:r>
              <a:rPr lang="en-US" sz="5400" b="1" dirty="0">
                <a:solidFill>
                  <a:srgbClr val="17418A"/>
                </a:solidFill>
              </a:rPr>
              <a:t>12</a:t>
            </a:r>
            <a:endParaRPr lang="en-US" sz="5400" dirty="0"/>
          </a:p>
        </p:txBody>
      </p:sp>
      <p:sp>
        <p:nvSpPr>
          <p:cNvPr id="5" name="Text 3"/>
          <p:cNvSpPr txBox="1"/>
          <p:nvPr/>
        </p:nvSpPr>
        <p:spPr>
          <a:xfrm>
            <a:off x="777240" y="2487168"/>
            <a:ext cx="2194560" cy="365760"/>
          </a:xfrm>
          <a:prstGeom prst="rect">
            <a:avLst/>
          </a:prstGeom>
          <a:noFill/>
          <a:ln/>
        </p:spPr>
        <p:txBody>
          <a:bodyPr wrap="square" lIns="0" tIns="0" rIns="0" bIns="0" rtlCol="0" anchor="t"/>
          <a:lstStyle/>
          <a:p>
            <a:pPr indent="0" marL="0">
              <a:buNone/>
            </a:pPr>
            <a:r>
              <a:rPr lang="en-US" sz="1500" b="1" dirty="0">
                <a:solidFill>
                  <a:srgbClr val="0095C9"/>
                </a:solidFill>
              </a:rPr>
              <a:t>modules activables</a:t>
            </a:r>
            <a:endParaRPr lang="en-US" sz="1500" dirty="0"/>
          </a:p>
        </p:txBody>
      </p:sp>
      <p:sp>
        <p:nvSpPr>
          <p:cNvPr id="6" name="Text 4"/>
          <p:cNvSpPr txBox="1"/>
          <p:nvPr/>
        </p:nvSpPr>
        <p:spPr>
          <a:xfrm>
            <a:off x="777240" y="2880360"/>
            <a:ext cx="2194560" cy="868680"/>
          </a:xfrm>
          <a:prstGeom prst="rect">
            <a:avLst/>
          </a:prstGeom>
          <a:noFill/>
          <a:ln/>
        </p:spPr>
        <p:txBody>
          <a:bodyPr wrap="square" lIns="0" tIns="0" rIns="0" bIns="0" rtlCol="0" anchor="t"/>
          <a:lstStyle/>
          <a:p>
            <a:pPr indent="0" marL="0">
              <a:buNone/>
            </a:pPr>
            <a:r>
              <a:rPr lang="en-US" sz="1200" dirty="0">
                <a:solidFill>
                  <a:srgbClr val="323230"/>
                </a:solidFill>
              </a:rPr>
              <a:t>socle caisse et budget, fonds, missions, parc, stocks, trésorerie, analyses…</a:t>
            </a:r>
            <a:endParaRPr lang="en-US" sz="1200" dirty="0"/>
          </a:p>
        </p:txBody>
      </p:sp>
      <p:sp>
        <p:nvSpPr>
          <p:cNvPr id="7" name="Shape 5"/>
          <p:cNvSpPr/>
          <p:nvPr/>
        </p:nvSpPr>
        <p:spPr>
          <a:xfrm>
            <a:off x="3383280" y="1417320"/>
            <a:ext cx="2606040" cy="2423160"/>
          </a:xfrm>
          <a:prstGeom prst="rect">
            <a:avLst/>
          </a:prstGeom>
          <a:solidFill>
            <a:srgbClr val="F3F5F8"/>
          </a:solidFill>
          <a:ln/>
        </p:spPr>
      </p:sp>
      <p:sp>
        <p:nvSpPr>
          <p:cNvPr id="8" name="Text 6"/>
          <p:cNvSpPr txBox="1"/>
          <p:nvPr/>
        </p:nvSpPr>
        <p:spPr>
          <a:xfrm>
            <a:off x="3611880" y="1554480"/>
            <a:ext cx="2194560" cy="914400"/>
          </a:xfrm>
          <a:prstGeom prst="rect">
            <a:avLst/>
          </a:prstGeom>
          <a:noFill/>
          <a:ln/>
        </p:spPr>
        <p:txBody>
          <a:bodyPr wrap="square" lIns="0" tIns="0" rIns="0" bIns="0" rtlCol="0" anchor="t"/>
          <a:lstStyle/>
          <a:p>
            <a:pPr indent="0" marL="0">
              <a:buNone/>
            </a:pPr>
            <a:r>
              <a:rPr lang="en-US" sz="5400" b="1" dirty="0">
                <a:solidFill>
                  <a:srgbClr val="17418A"/>
                </a:solidFill>
              </a:rPr>
              <a:t>793</a:t>
            </a:r>
            <a:endParaRPr lang="en-US" sz="5400" dirty="0"/>
          </a:p>
        </p:txBody>
      </p:sp>
      <p:sp>
        <p:nvSpPr>
          <p:cNvPr id="9" name="Text 7"/>
          <p:cNvSpPr txBox="1"/>
          <p:nvPr/>
        </p:nvSpPr>
        <p:spPr>
          <a:xfrm>
            <a:off x="3611880" y="2487168"/>
            <a:ext cx="2194560" cy="365760"/>
          </a:xfrm>
          <a:prstGeom prst="rect">
            <a:avLst/>
          </a:prstGeom>
          <a:noFill/>
          <a:ln/>
        </p:spPr>
        <p:txBody>
          <a:bodyPr wrap="square" lIns="0" tIns="0" rIns="0" bIns="0" rtlCol="0" anchor="t"/>
          <a:lstStyle/>
          <a:p>
            <a:pPr indent="0" marL="0">
              <a:buNone/>
            </a:pPr>
            <a:r>
              <a:rPr lang="en-US" sz="1500" b="1" dirty="0">
                <a:solidFill>
                  <a:srgbClr val="0095C9"/>
                </a:solidFill>
              </a:rPr>
              <a:t>tests automatiques</a:t>
            </a:r>
            <a:endParaRPr lang="en-US" sz="1500" dirty="0"/>
          </a:p>
        </p:txBody>
      </p:sp>
      <p:sp>
        <p:nvSpPr>
          <p:cNvPr id="10" name="Text 8"/>
          <p:cNvSpPr txBox="1"/>
          <p:nvPr/>
        </p:nvSpPr>
        <p:spPr>
          <a:xfrm>
            <a:off x="3611880" y="2880360"/>
            <a:ext cx="2194560" cy="868680"/>
          </a:xfrm>
          <a:prstGeom prst="rect">
            <a:avLst/>
          </a:prstGeom>
          <a:noFill/>
          <a:ln/>
        </p:spPr>
        <p:txBody>
          <a:bodyPr wrap="square" lIns="0" tIns="0" rIns="0" bIns="0" rtlCol="0" anchor="t"/>
          <a:lstStyle/>
          <a:p>
            <a:pPr indent="0" marL="0">
              <a:buNone/>
            </a:pPr>
            <a:r>
              <a:rPr lang="en-US" sz="1200" dirty="0">
                <a:solidFill>
                  <a:srgbClr val="323230"/>
                </a:solidFill>
              </a:rPr>
              <a:t>exécutés avec succès sur la version 2.2.1</a:t>
            </a:r>
            <a:endParaRPr lang="en-US" sz="1200" dirty="0"/>
          </a:p>
        </p:txBody>
      </p:sp>
      <p:sp>
        <p:nvSpPr>
          <p:cNvPr id="11" name="Shape 9"/>
          <p:cNvSpPr/>
          <p:nvPr/>
        </p:nvSpPr>
        <p:spPr>
          <a:xfrm>
            <a:off x="6217920" y="1417320"/>
            <a:ext cx="2606040" cy="2423160"/>
          </a:xfrm>
          <a:prstGeom prst="rect">
            <a:avLst/>
          </a:prstGeom>
          <a:solidFill>
            <a:srgbClr val="F3F5F8"/>
          </a:solidFill>
          <a:ln/>
        </p:spPr>
      </p:sp>
      <p:sp>
        <p:nvSpPr>
          <p:cNvPr id="12" name="Text 10"/>
          <p:cNvSpPr txBox="1"/>
          <p:nvPr/>
        </p:nvSpPr>
        <p:spPr>
          <a:xfrm>
            <a:off x="6446520" y="1554480"/>
            <a:ext cx="2194560" cy="914400"/>
          </a:xfrm>
          <a:prstGeom prst="rect">
            <a:avLst/>
          </a:prstGeom>
          <a:noFill/>
          <a:ln/>
        </p:spPr>
        <p:txBody>
          <a:bodyPr wrap="square" lIns="0" tIns="0" rIns="0" bIns="0" rtlCol="0" anchor="t"/>
          <a:lstStyle/>
          <a:p>
            <a:pPr indent="0" marL="0">
              <a:buNone/>
            </a:pPr>
            <a:r>
              <a:rPr lang="en-US" sz="5400" b="1" dirty="0">
                <a:solidFill>
                  <a:srgbClr val="17418A"/>
                </a:solidFill>
              </a:rPr>
              <a:t>51</a:t>
            </a:r>
            <a:endParaRPr lang="en-US" sz="5400" dirty="0"/>
          </a:p>
        </p:txBody>
      </p:sp>
      <p:sp>
        <p:nvSpPr>
          <p:cNvPr id="13" name="Text 11"/>
          <p:cNvSpPr txBox="1"/>
          <p:nvPr/>
        </p:nvSpPr>
        <p:spPr>
          <a:xfrm>
            <a:off x="6446520" y="2487168"/>
            <a:ext cx="2194560" cy="365760"/>
          </a:xfrm>
          <a:prstGeom prst="rect">
            <a:avLst/>
          </a:prstGeom>
          <a:noFill/>
          <a:ln/>
        </p:spPr>
        <p:txBody>
          <a:bodyPr wrap="square" lIns="0" tIns="0" rIns="0" bIns="0" rtlCol="0" anchor="t"/>
          <a:lstStyle/>
          <a:p>
            <a:pPr indent="0" marL="0">
              <a:buNone/>
            </a:pPr>
            <a:r>
              <a:rPr lang="en-US" sz="1500" b="1" dirty="0">
                <a:solidFill>
                  <a:srgbClr val="0095C9"/>
                </a:solidFill>
              </a:rPr>
              <a:t>scénarios de recette</a:t>
            </a:r>
            <a:endParaRPr lang="en-US" sz="1500" dirty="0"/>
          </a:p>
        </p:txBody>
      </p:sp>
      <p:sp>
        <p:nvSpPr>
          <p:cNvPr id="14" name="Text 12"/>
          <p:cNvSpPr txBox="1"/>
          <p:nvPr/>
        </p:nvSpPr>
        <p:spPr>
          <a:xfrm>
            <a:off x="6446520" y="2880360"/>
            <a:ext cx="2194560" cy="868680"/>
          </a:xfrm>
          <a:prstGeom prst="rect">
            <a:avLst/>
          </a:prstGeom>
          <a:noFill/>
          <a:ln/>
        </p:spPr>
        <p:txBody>
          <a:bodyPr wrap="square" lIns="0" tIns="0" rIns="0" bIns="0" rtlCol="0" anchor="t"/>
          <a:lstStyle/>
          <a:p>
            <a:pPr indent="0" marL="0">
              <a:buNone/>
            </a:pPr>
            <a:r>
              <a:rPr lang="en-US" sz="1200" dirty="0">
                <a:solidFill>
                  <a:srgbClr val="323230"/>
                </a:solidFill>
              </a:rPr>
              <a:t>cahier UAT et classeur de suivi prêts</a:t>
            </a:r>
            <a:endParaRPr lang="en-US" sz="1200" dirty="0"/>
          </a:p>
        </p:txBody>
      </p:sp>
      <p:sp>
        <p:nvSpPr>
          <p:cNvPr id="15" name="Shape 13"/>
          <p:cNvSpPr/>
          <p:nvPr/>
        </p:nvSpPr>
        <p:spPr>
          <a:xfrm>
            <a:off x="9052560" y="1417320"/>
            <a:ext cx="2606040" cy="2423160"/>
          </a:xfrm>
          <a:prstGeom prst="rect">
            <a:avLst/>
          </a:prstGeom>
          <a:solidFill>
            <a:srgbClr val="F3F5F8"/>
          </a:solidFill>
          <a:ln/>
        </p:spPr>
      </p:sp>
      <p:sp>
        <p:nvSpPr>
          <p:cNvPr id="16" name="Text 14"/>
          <p:cNvSpPr txBox="1"/>
          <p:nvPr/>
        </p:nvSpPr>
        <p:spPr>
          <a:xfrm>
            <a:off x="9281160" y="1554480"/>
            <a:ext cx="2194560" cy="914400"/>
          </a:xfrm>
          <a:prstGeom prst="rect">
            <a:avLst/>
          </a:prstGeom>
          <a:noFill/>
          <a:ln/>
        </p:spPr>
        <p:txBody>
          <a:bodyPr wrap="square" lIns="0" tIns="0" rIns="0" bIns="0" rtlCol="0" anchor="t"/>
          <a:lstStyle/>
          <a:p>
            <a:pPr indent="0" marL="0">
              <a:buNone/>
            </a:pPr>
            <a:r>
              <a:rPr lang="en-US" sz="5400" b="1" dirty="0">
                <a:solidFill>
                  <a:srgbClr val="17418A"/>
                </a:solidFill>
              </a:rPr>
              <a:t>63</a:t>
            </a:r>
            <a:endParaRPr lang="en-US" sz="5400" dirty="0"/>
          </a:p>
        </p:txBody>
      </p:sp>
      <p:sp>
        <p:nvSpPr>
          <p:cNvPr id="17" name="Text 15"/>
          <p:cNvSpPr txBox="1"/>
          <p:nvPr/>
        </p:nvSpPr>
        <p:spPr>
          <a:xfrm>
            <a:off x="9281160" y="2487168"/>
            <a:ext cx="2194560" cy="365760"/>
          </a:xfrm>
          <a:prstGeom prst="rect">
            <a:avLst/>
          </a:prstGeom>
          <a:noFill/>
          <a:ln/>
        </p:spPr>
        <p:txBody>
          <a:bodyPr wrap="square" lIns="0" tIns="0" rIns="0" bIns="0" rtlCol="0" anchor="t"/>
          <a:lstStyle/>
          <a:p>
            <a:pPr indent="0" marL="0">
              <a:buNone/>
            </a:pPr>
            <a:r>
              <a:rPr lang="en-US" sz="1500" b="1" dirty="0">
                <a:solidFill>
                  <a:srgbClr val="0095C9"/>
                </a:solidFill>
              </a:rPr>
              <a:t>pages de guide</a:t>
            </a:r>
            <a:endParaRPr lang="en-US" sz="1500" dirty="0"/>
          </a:p>
        </p:txBody>
      </p:sp>
      <p:sp>
        <p:nvSpPr>
          <p:cNvPr id="18" name="Text 16"/>
          <p:cNvSpPr txBox="1"/>
          <p:nvPr/>
        </p:nvSpPr>
        <p:spPr>
          <a:xfrm>
            <a:off x="9281160" y="2880360"/>
            <a:ext cx="2194560" cy="868680"/>
          </a:xfrm>
          <a:prstGeom prst="rect">
            <a:avLst/>
          </a:prstGeom>
          <a:noFill/>
          <a:ln/>
        </p:spPr>
        <p:txBody>
          <a:bodyPr wrap="square" lIns="0" tIns="0" rIns="0" bIns="0" rtlCol="0" anchor="t"/>
          <a:lstStyle/>
          <a:p>
            <a:pPr indent="0" marL="0">
              <a:buNone/>
            </a:pPr>
            <a:r>
              <a:rPr lang="en-US" sz="1200" dirty="0">
                <a:solidFill>
                  <a:srgbClr val="323230"/>
                </a:solidFill>
              </a:rPr>
              <a:t>procédures par profil, illustrées</a:t>
            </a:r>
            <a:endParaRPr lang="en-US" sz="1200" dirty="0"/>
          </a:p>
        </p:txBody>
      </p:sp>
      <p:sp>
        <p:nvSpPr>
          <p:cNvPr id="19" name="Text 17"/>
          <p:cNvSpPr txBox="1"/>
          <p:nvPr/>
        </p:nvSpPr>
        <p:spPr>
          <a:xfrm>
            <a:off x="548640" y="4160520"/>
            <a:ext cx="5486400" cy="365760"/>
          </a:xfrm>
          <a:prstGeom prst="rect">
            <a:avLst/>
          </a:prstGeom>
          <a:noFill/>
          <a:ln/>
        </p:spPr>
        <p:txBody>
          <a:bodyPr wrap="square" lIns="0" tIns="0" rIns="0" bIns="0" rtlCol="0" anchor="t"/>
          <a:lstStyle/>
          <a:p>
            <a:pPr indent="0" marL="0">
              <a:buNone/>
            </a:pPr>
            <a:r>
              <a:rPr lang="en-US" sz="1700" b="1" dirty="0">
                <a:solidFill>
                  <a:srgbClr val="17418A"/>
                </a:solidFill>
              </a:rPr>
              <a:t>Avant les données réelles</a:t>
            </a:r>
            <a:endParaRPr lang="en-US" sz="1700" dirty="0"/>
          </a:p>
        </p:txBody>
      </p:sp>
      <p:sp>
        <p:nvSpPr>
          <p:cNvPr id="20" name="Text 18"/>
          <p:cNvSpPr txBox="1"/>
          <p:nvPr/>
        </p:nvSpPr>
        <p:spPr>
          <a:xfrm>
            <a:off x="548640" y="4572000"/>
            <a:ext cx="110642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23230"/>
                </a:solidFill>
              </a:rPr>
              <a:t>Hébergement et nom de domaine déjà en place ; messagerie de la plateforme à configurer</a:t>
            </a:r>
            <a:endParaRPr lang="en-US" sz="1400" dirty="0"/>
          </a:p>
          <a:p>
            <a:pPr marL="342900" indent="-342900">
              <a:spcAft>
                <a:spcPts val="600"/>
              </a:spcAft>
              <a:buSzPct val="100000"/>
              <a:buChar char="•"/>
            </a:pPr>
            <a:r>
              <a:rPr lang="en-US" sz="1400" dirty="0">
                <a:solidFill>
                  <a:srgbClr val="323230"/>
                </a:solidFill>
              </a:rPr>
              <a:t>Revue du code par une personne indépendante, puis recette par les utilisateurs</a:t>
            </a:r>
            <a:endParaRPr lang="en-US" sz="1400" dirty="0"/>
          </a:p>
          <a:p>
            <a:pPr marL="342900" indent="-342900">
              <a:spcAft>
                <a:spcPts val="600"/>
              </a:spcAft>
              <a:buSzPct val="100000"/>
              <a:buChar char="•"/>
            </a:pPr>
            <a:r>
              <a:rPr lang="en-US" sz="1400" dirty="0">
                <a:solidFill>
                  <a:srgbClr val="323230"/>
                </a:solidFill>
              </a:rPr>
              <a:t>Barème officiel des missions et règles de contrôle validés par Administration et Finance</a:t>
            </a:r>
            <a:endParaRPr lang="en-US" sz="14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5D66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731520"/>
            <a:ext cx="10698480" cy="822960"/>
          </a:xfrm>
          <a:prstGeom prst="rect">
            <a:avLst/>
          </a:prstGeom>
          <a:noFill/>
          <a:ln/>
        </p:spPr>
        <p:txBody>
          <a:bodyPr wrap="square" lIns="0" tIns="0" rIns="0" bIns="0" rtlCol="0" anchor="t"/>
          <a:lstStyle/>
          <a:p>
            <a:pPr indent="0" marL="0">
              <a:buNone/>
            </a:pPr>
            <a:r>
              <a:rPr lang="en-US" sz="3600" b="1" dirty="0">
                <a:solidFill>
                  <a:srgbClr val="FFFFFF"/>
                </a:solidFill>
              </a:rPr>
              <a:t>Ce que nous vous demandons aujourd’hui</a:t>
            </a:r>
            <a:endParaRPr lang="en-US" sz="3600" dirty="0"/>
          </a:p>
        </p:txBody>
      </p:sp>
      <p:sp>
        <p:nvSpPr>
          <p:cNvPr id="3" name="Shape 1"/>
          <p:cNvSpPr/>
          <p:nvPr/>
        </p:nvSpPr>
        <p:spPr>
          <a:xfrm>
            <a:off x="731520" y="1920240"/>
            <a:ext cx="658368" cy="658368"/>
          </a:xfrm>
          <a:prstGeom prst="ellipse">
            <a:avLst/>
          </a:prstGeom>
          <a:solidFill>
            <a:srgbClr val="FFF24B"/>
          </a:solidFill>
          <a:ln/>
        </p:spPr>
      </p:sp>
      <p:sp>
        <p:nvSpPr>
          <p:cNvPr id="4" name="Text 2"/>
          <p:cNvSpPr txBox="1"/>
          <p:nvPr/>
        </p:nvSpPr>
        <p:spPr>
          <a:xfrm>
            <a:off x="731520" y="1920240"/>
            <a:ext cx="658368" cy="658368"/>
          </a:xfrm>
          <a:prstGeom prst="rect">
            <a:avLst/>
          </a:prstGeom>
          <a:noFill/>
          <a:ln/>
        </p:spPr>
        <p:txBody>
          <a:bodyPr wrap="square" lIns="0" tIns="0" rIns="0" bIns="0" rtlCol="0" anchor="ctr"/>
          <a:lstStyle/>
          <a:p>
            <a:pPr algn="ctr" indent="0" marL="0">
              <a:buNone/>
            </a:pPr>
            <a:r>
              <a:rPr lang="en-US" sz="2200" b="1" dirty="0">
                <a:solidFill>
                  <a:srgbClr val="17418A"/>
                </a:solidFill>
              </a:rPr>
              <a:t>1</a:t>
            </a:r>
            <a:endParaRPr lang="en-US" sz="2200" dirty="0"/>
          </a:p>
        </p:txBody>
      </p:sp>
      <p:sp>
        <p:nvSpPr>
          <p:cNvPr id="5" name="Text 3"/>
          <p:cNvSpPr txBox="1"/>
          <p:nvPr/>
        </p:nvSpPr>
        <p:spPr>
          <a:xfrm>
            <a:off x="1645920" y="1920240"/>
            <a:ext cx="9784080" cy="658368"/>
          </a:xfrm>
          <a:prstGeom prst="rect">
            <a:avLst/>
          </a:prstGeom>
          <a:noFill/>
          <a:ln/>
        </p:spPr>
        <p:txBody>
          <a:bodyPr wrap="square" lIns="0" tIns="0" rIns="0" bIns="0" rtlCol="0" anchor="ctr"/>
          <a:lstStyle/>
          <a:p>
            <a:pPr indent="0" marL="0">
              <a:buNone/>
            </a:pPr>
            <a:r>
              <a:rPr lang="en-US" sz="2000" dirty="0">
                <a:solidFill>
                  <a:srgbClr val="FFFFFF"/>
                </a:solidFill>
              </a:rPr>
              <a:t>Valider l’adoption de l’application comme outil de gestion des frais de fonctionnement de l’Inspection</a:t>
            </a:r>
            <a:endParaRPr lang="en-US" sz="2000" dirty="0"/>
          </a:p>
        </p:txBody>
      </p:sp>
      <p:sp>
        <p:nvSpPr>
          <p:cNvPr id="6" name="Shape 4"/>
          <p:cNvSpPr/>
          <p:nvPr/>
        </p:nvSpPr>
        <p:spPr>
          <a:xfrm>
            <a:off x="731520" y="2944368"/>
            <a:ext cx="658368" cy="658368"/>
          </a:xfrm>
          <a:prstGeom prst="ellipse">
            <a:avLst/>
          </a:prstGeom>
          <a:solidFill>
            <a:srgbClr val="FFF24B"/>
          </a:solidFill>
          <a:ln/>
        </p:spPr>
      </p:sp>
      <p:sp>
        <p:nvSpPr>
          <p:cNvPr id="7" name="Text 5"/>
          <p:cNvSpPr txBox="1"/>
          <p:nvPr/>
        </p:nvSpPr>
        <p:spPr>
          <a:xfrm>
            <a:off x="731520" y="2944368"/>
            <a:ext cx="658368" cy="658368"/>
          </a:xfrm>
          <a:prstGeom prst="rect">
            <a:avLst/>
          </a:prstGeom>
          <a:noFill/>
          <a:ln/>
        </p:spPr>
        <p:txBody>
          <a:bodyPr wrap="square" lIns="0" tIns="0" rIns="0" bIns="0" rtlCol="0" anchor="ctr"/>
          <a:lstStyle/>
          <a:p>
            <a:pPr algn="ctr" indent="0" marL="0">
              <a:buNone/>
            </a:pPr>
            <a:r>
              <a:rPr lang="en-US" sz="2200" b="1" dirty="0">
                <a:solidFill>
                  <a:srgbClr val="17418A"/>
                </a:solidFill>
              </a:rPr>
              <a:t>2</a:t>
            </a:r>
            <a:endParaRPr lang="en-US" sz="2200" dirty="0"/>
          </a:p>
        </p:txBody>
      </p:sp>
      <p:sp>
        <p:nvSpPr>
          <p:cNvPr id="8" name="Text 6"/>
          <p:cNvSpPr txBox="1"/>
          <p:nvPr/>
        </p:nvSpPr>
        <p:spPr>
          <a:xfrm>
            <a:off x="1645920" y="2944368"/>
            <a:ext cx="9784080" cy="658368"/>
          </a:xfrm>
          <a:prstGeom prst="rect">
            <a:avLst/>
          </a:prstGeom>
          <a:noFill/>
          <a:ln/>
        </p:spPr>
        <p:txBody>
          <a:bodyPr wrap="square" lIns="0" tIns="0" rIns="0" bIns="0" rtlCol="0" anchor="ctr"/>
          <a:lstStyle/>
          <a:p>
            <a:pPr indent="0" marL="0">
              <a:buNone/>
            </a:pPr>
            <a:r>
              <a:rPr lang="en-US" sz="2000" dirty="0">
                <a:solidFill>
                  <a:srgbClr val="FFFFFF"/>
                </a:solidFill>
              </a:rPr>
              <a:t>Désigner le pilote du projet et les 2 ou 3 services pilotes</a:t>
            </a:r>
            <a:endParaRPr lang="en-US" sz="2000" dirty="0"/>
          </a:p>
        </p:txBody>
      </p:sp>
      <p:sp>
        <p:nvSpPr>
          <p:cNvPr id="9" name="Shape 7"/>
          <p:cNvSpPr/>
          <p:nvPr/>
        </p:nvSpPr>
        <p:spPr>
          <a:xfrm>
            <a:off x="731520" y="3968496"/>
            <a:ext cx="658368" cy="658368"/>
          </a:xfrm>
          <a:prstGeom prst="ellipse">
            <a:avLst/>
          </a:prstGeom>
          <a:solidFill>
            <a:srgbClr val="FFF24B"/>
          </a:solidFill>
          <a:ln/>
        </p:spPr>
      </p:sp>
      <p:sp>
        <p:nvSpPr>
          <p:cNvPr id="10" name="Text 8"/>
          <p:cNvSpPr txBox="1"/>
          <p:nvPr/>
        </p:nvSpPr>
        <p:spPr>
          <a:xfrm>
            <a:off x="731520" y="3968496"/>
            <a:ext cx="658368" cy="658368"/>
          </a:xfrm>
          <a:prstGeom prst="rect">
            <a:avLst/>
          </a:prstGeom>
          <a:noFill/>
          <a:ln/>
        </p:spPr>
        <p:txBody>
          <a:bodyPr wrap="square" lIns="0" tIns="0" rIns="0" bIns="0" rtlCol="0" anchor="ctr"/>
          <a:lstStyle/>
          <a:p>
            <a:pPr algn="ctr" indent="0" marL="0">
              <a:buNone/>
            </a:pPr>
            <a:r>
              <a:rPr lang="en-US" sz="2200" b="1" dirty="0">
                <a:solidFill>
                  <a:srgbClr val="17418A"/>
                </a:solidFill>
              </a:rPr>
              <a:t>3</a:t>
            </a:r>
            <a:endParaRPr lang="en-US" sz="2200" dirty="0"/>
          </a:p>
        </p:txBody>
      </p:sp>
      <p:sp>
        <p:nvSpPr>
          <p:cNvPr id="11" name="Text 9"/>
          <p:cNvSpPr txBox="1"/>
          <p:nvPr/>
        </p:nvSpPr>
        <p:spPr>
          <a:xfrm>
            <a:off x="1645920" y="3968496"/>
            <a:ext cx="9784080" cy="658368"/>
          </a:xfrm>
          <a:prstGeom prst="rect">
            <a:avLst/>
          </a:prstGeom>
          <a:noFill/>
          <a:ln/>
        </p:spPr>
        <p:txBody>
          <a:bodyPr wrap="square" lIns="0" tIns="0" rIns="0" bIns="0" rtlCol="0" anchor="ctr"/>
          <a:lstStyle/>
          <a:p>
            <a:pPr indent="0" marL="0">
              <a:buNone/>
            </a:pPr>
            <a:r>
              <a:rPr lang="en-US" sz="2000" dirty="0">
                <a:solidFill>
                  <a:srgbClr val="FFFFFF"/>
                </a:solidFill>
              </a:rPr>
              <a:t>Lancer la recette avec les futurs utilisateurs</a:t>
            </a:r>
            <a:endParaRPr lang="en-US" sz="2000" dirty="0"/>
          </a:p>
        </p:txBody>
      </p:sp>
      <p:sp>
        <p:nvSpPr>
          <p:cNvPr id="12" name="Shape 10"/>
          <p:cNvSpPr/>
          <p:nvPr/>
        </p:nvSpPr>
        <p:spPr>
          <a:xfrm>
            <a:off x="731520" y="4992624"/>
            <a:ext cx="658368" cy="658368"/>
          </a:xfrm>
          <a:prstGeom prst="ellipse">
            <a:avLst/>
          </a:prstGeom>
          <a:solidFill>
            <a:srgbClr val="FFF24B"/>
          </a:solidFill>
          <a:ln/>
        </p:spPr>
      </p:sp>
      <p:sp>
        <p:nvSpPr>
          <p:cNvPr id="13" name="Text 11"/>
          <p:cNvSpPr txBox="1"/>
          <p:nvPr/>
        </p:nvSpPr>
        <p:spPr>
          <a:xfrm>
            <a:off x="731520" y="4992624"/>
            <a:ext cx="658368" cy="658368"/>
          </a:xfrm>
          <a:prstGeom prst="rect">
            <a:avLst/>
          </a:prstGeom>
          <a:noFill/>
          <a:ln/>
        </p:spPr>
        <p:txBody>
          <a:bodyPr wrap="square" lIns="0" tIns="0" rIns="0" bIns="0" rtlCol="0" anchor="ctr"/>
          <a:lstStyle/>
          <a:p>
            <a:pPr algn="ctr" indent="0" marL="0">
              <a:buNone/>
            </a:pPr>
            <a:r>
              <a:rPr lang="en-US" sz="2200" b="1" dirty="0">
                <a:solidFill>
                  <a:srgbClr val="17418A"/>
                </a:solidFill>
              </a:rPr>
              <a:t>4</a:t>
            </a:r>
            <a:endParaRPr lang="en-US" sz="2200" dirty="0"/>
          </a:p>
        </p:txBody>
      </p:sp>
      <p:sp>
        <p:nvSpPr>
          <p:cNvPr id="14" name="Text 12"/>
          <p:cNvSpPr txBox="1"/>
          <p:nvPr/>
        </p:nvSpPr>
        <p:spPr>
          <a:xfrm>
            <a:off x="1645920" y="4992624"/>
            <a:ext cx="9784080" cy="658368"/>
          </a:xfrm>
          <a:prstGeom prst="rect">
            <a:avLst/>
          </a:prstGeom>
          <a:noFill/>
          <a:ln/>
        </p:spPr>
        <p:txBody>
          <a:bodyPr wrap="square" lIns="0" tIns="0" rIns="0" bIns="0" rtlCol="0" anchor="ctr"/>
          <a:lstStyle/>
          <a:p>
            <a:pPr indent="0" marL="0">
              <a:buNone/>
            </a:pPr>
            <a:r>
              <a:rPr lang="en-US" sz="2000" dirty="0">
                <a:solidFill>
                  <a:srgbClr val="FFFFFF"/>
                </a:solidFill>
              </a:rPr>
              <a:t>Fixer la date de bascule des services pilotes</a:t>
            </a:r>
            <a:endParaRPr lang="en-US" sz="2000" dirty="0"/>
          </a:p>
        </p:txBody>
      </p:sp>
      <p:sp>
        <p:nvSpPr>
          <p:cNvPr id="15" name="Text 13"/>
          <p:cNvSpPr txBox="1"/>
          <p:nvPr/>
        </p:nvSpPr>
        <p:spPr>
          <a:xfrm>
            <a:off x="731520" y="6080760"/>
            <a:ext cx="8229600" cy="411480"/>
          </a:xfrm>
          <a:prstGeom prst="rect">
            <a:avLst/>
          </a:prstGeom>
          <a:noFill/>
          <a:ln/>
        </p:spPr>
        <p:txBody>
          <a:bodyPr wrap="square" lIns="0" tIns="0" rIns="0" bIns="0" rtlCol="0" anchor="t"/>
          <a:lstStyle/>
          <a:p>
            <a:pPr indent="0" marL="0">
              <a:buNone/>
            </a:pPr>
            <a:r>
              <a:rPr lang="en-US" sz="1600" b="1" dirty="0">
                <a:solidFill>
                  <a:srgbClr val="FFF24B"/>
                </a:solidFill>
              </a:rPr>
              <a:t>Merci. Questions et échanges</a:t>
            </a:r>
            <a:endParaRPr lang="en-US" sz="1600" dirty="0"/>
          </a:p>
        </p:txBody>
      </p:sp>
      <p:sp>
        <p:nvSpPr>
          <p:cNvPr id="17" name="Text 3"/>
          <p:cNvSpPr/>
          <p:nvPr>
            <p:ph idx="103" type="title" hasCustomPrompt="1"/>
          </p:nvPr>
        </p:nvSpPr>
        <p:spPr>
          <a:xfrm>
            <a:off x="731520" y="2286000"/>
            <a:ext cx="8046720" cy="1554480"/>
          </a:xfrm>
          <a:prstGeom prst="rect">
            <a:avLst/>
          </a:prstGeom>
          <a:noFill/>
          <a:ln/>
        </p:spPr>
        <p:txBody>
          <a:bodyPr wrap="square" lIns="0" tIns="0" rIns="0" bIns="0" rtlCol="0" anchor="b"/>
          <a:lstStyle/>
          <a:p>
            <a:pPr algn="l" indent="0" marL="0">
              <a:buNone/>
            </a:pPr>
            <a:endParaRPr lang="en-US" sz="4000" dirty="0"/>
          </a:p>
        </p:txBody>
      </p:sp>
      <p:sp>
        <p:nvSpPr>
          <p:cNvPr id="18" name="Text 3"/>
          <p:cNvSpPr/>
          <p:nvPr>
            <p:ph idx="104" type="body" hasCustomPrompt="1"/>
          </p:nvPr>
        </p:nvSpPr>
        <p:spPr>
          <a:xfrm>
            <a:off x="731520" y="4069080"/>
            <a:ext cx="8046720" cy="137160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IGE Charte">
  <a:themeElements>
    <a:clrScheme name="IGE Charte">
      <a:dk1>
        <a:srgbClr val="323230"/>
      </a:dk1>
      <a:lt1>
        <a:srgbClr val="FFFFFF"/>
      </a:lt1>
      <a:dk2>
        <a:srgbClr val="17418A"/>
      </a:dk2>
      <a:lt2>
        <a:srgbClr val="F3F5F8"/>
      </a:lt2>
      <a:accent1>
        <a:srgbClr val="0095C9"/>
      </a:accent1>
      <a:accent2>
        <a:srgbClr val="FFF24B"/>
      </a:accent2>
      <a:accent3>
        <a:srgbClr val="DB3832"/>
      </a:accent3>
      <a:accent4>
        <a:srgbClr val="65B32E"/>
      </a:accent4>
      <a:accent5>
        <a:srgbClr val="ED7016"/>
      </a:accent5>
      <a:accent6>
        <a:srgbClr val="AFB8BE"/>
      </a:accent6>
      <a:hlink>
        <a:srgbClr val="0095C9"/>
      </a:hlink>
      <a:folHlink>
        <a:srgbClr val="17418A"/>
      </a:folHlink>
    </a:clrScheme>
    <a:fontScheme name="IGE Char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Inspection Générale de l’Enseignement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des frais de fonctionnement — présentation pour adoption</dc:title>
  <dc:subject>PptxGenJS Presentation</dc:subject>
  <dc:creator>Inspection Générale de l’Enseignement — Administration et Finance</dc:creator>
  <cp:lastModifiedBy>Inspection Générale de l’Enseignement — Administration et Finance</cp:lastModifiedBy>
  <cp:revision>1</cp:revision>
  <dcterms:created xsi:type="dcterms:W3CDTF">2026-10-25T00:38:23Z</dcterms:created>
  <dcterms:modified xsi:type="dcterms:W3CDTF">2026-10-25T00:38:23Z</dcterms:modified>
</cp:coreProperties>
</file>